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7"/>
  </p:notesMasterIdLst>
  <p:sldIdLst>
    <p:sldId id="256" r:id="rId2"/>
    <p:sldId id="257" r:id="rId3"/>
    <p:sldId id="258" r:id="rId4"/>
    <p:sldId id="259" r:id="rId5"/>
    <p:sldId id="260" r:id="rId6"/>
    <p:sldId id="274" r:id="rId7"/>
    <p:sldId id="264" r:id="rId8"/>
    <p:sldId id="273" r:id="rId9"/>
    <p:sldId id="262" r:id="rId10"/>
    <p:sldId id="271" r:id="rId11"/>
    <p:sldId id="263" r:id="rId12"/>
    <p:sldId id="266" r:id="rId13"/>
    <p:sldId id="275" r:id="rId14"/>
    <p:sldId id="272" r:id="rId15"/>
    <p:sldId id="269" r:id="rId16"/>
  </p:sldIdLst>
  <p:sldSz cx="12192000" cy="6858000"/>
  <p:notesSz cx="6858000" cy="9144000"/>
  <p:embeddedFontLst>
    <p:embeddedFont>
      <p:font typeface="Urbanist" panose="020B0604020202020204"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91" d="100"/>
          <a:sy n="91" d="100"/>
        </p:scale>
        <p:origin x="360" y="58"/>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73" d="100"/>
          <a:sy n="73" d="100"/>
        </p:scale>
        <p:origin x="2990" y="6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 name="Google Shape;10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7" name="Google Shape;12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6" name="Google Shape;14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a:extLst>
            <a:ext uri="{FF2B5EF4-FFF2-40B4-BE49-F238E27FC236}">
              <a16:creationId xmlns:a16="http://schemas.microsoft.com/office/drawing/2014/main" id="{5DC86B0B-E3C6-9ABE-5CA6-39B022ECC500}"/>
            </a:ext>
          </a:extLst>
        </p:cNvPr>
        <p:cNvGrpSpPr/>
        <p:nvPr/>
      </p:nvGrpSpPr>
      <p:grpSpPr>
        <a:xfrm>
          <a:off x="0" y="0"/>
          <a:ext cx="0" cy="0"/>
          <a:chOff x="0" y="0"/>
          <a:chExt cx="0" cy="0"/>
        </a:xfrm>
      </p:grpSpPr>
      <p:sp>
        <p:nvSpPr>
          <p:cNvPr id="126" name="Google Shape;126;p4:notes">
            <a:extLst>
              <a:ext uri="{FF2B5EF4-FFF2-40B4-BE49-F238E27FC236}">
                <a16:creationId xmlns:a16="http://schemas.microsoft.com/office/drawing/2014/main" id="{DA8358C7-9ED5-1699-1298-D887C6CCD00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7" name="Google Shape;127;p4:notes">
            <a:extLst>
              <a:ext uri="{FF2B5EF4-FFF2-40B4-BE49-F238E27FC236}">
                <a16:creationId xmlns:a16="http://schemas.microsoft.com/office/drawing/2014/main" id="{9AE03AA6-1B15-6089-D0E3-60BFC6F992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4141271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5" name="Google Shape;21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a:extLst>
            <a:ext uri="{FF2B5EF4-FFF2-40B4-BE49-F238E27FC236}">
              <a16:creationId xmlns:a16="http://schemas.microsoft.com/office/drawing/2014/main" id="{7CF009A3-2794-10A5-E2FB-337E65760FFD}"/>
            </a:ext>
          </a:extLst>
        </p:cNvPr>
        <p:cNvGrpSpPr/>
        <p:nvPr/>
      </p:nvGrpSpPr>
      <p:grpSpPr>
        <a:xfrm>
          <a:off x="0" y="0"/>
          <a:ext cx="0" cy="0"/>
          <a:chOff x="0" y="0"/>
          <a:chExt cx="0" cy="0"/>
        </a:xfrm>
      </p:grpSpPr>
      <p:sp>
        <p:nvSpPr>
          <p:cNvPr id="165" name="Google Shape;165;p6:notes">
            <a:extLst>
              <a:ext uri="{FF2B5EF4-FFF2-40B4-BE49-F238E27FC236}">
                <a16:creationId xmlns:a16="http://schemas.microsoft.com/office/drawing/2014/main" id="{ECE5F792-7C7D-A862-952E-27EEFB8349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6:notes">
            <a:extLst>
              <a:ext uri="{FF2B5EF4-FFF2-40B4-BE49-F238E27FC236}">
                <a16:creationId xmlns:a16="http://schemas.microsoft.com/office/drawing/2014/main" id="{E39D644C-A996-4164-2A1A-022C19EBDC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4388330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9E5901BE-D9E4-5D17-74E9-CD2E8A95C877}"/>
            </a:ext>
          </a:extLst>
        </p:cNvPr>
        <p:cNvGrpSpPr/>
        <p:nvPr/>
      </p:nvGrpSpPr>
      <p:grpSpPr>
        <a:xfrm>
          <a:off x="0" y="0"/>
          <a:ext cx="0" cy="0"/>
          <a:chOff x="0" y="0"/>
          <a:chExt cx="0" cy="0"/>
        </a:xfrm>
      </p:grpSpPr>
      <p:sp>
        <p:nvSpPr>
          <p:cNvPr id="182" name="Google Shape;182;p7:notes">
            <a:extLst>
              <a:ext uri="{FF2B5EF4-FFF2-40B4-BE49-F238E27FC236}">
                <a16:creationId xmlns:a16="http://schemas.microsoft.com/office/drawing/2014/main" id="{F7B40EDA-C144-F633-B31F-6F396296521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7:notes">
            <a:extLst>
              <a:ext uri="{FF2B5EF4-FFF2-40B4-BE49-F238E27FC236}">
                <a16:creationId xmlns:a16="http://schemas.microsoft.com/office/drawing/2014/main" id="{9A9020A8-2ABD-4993-E4B3-4C10E1499F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8939335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0" name="Google Shape;20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3" name="Google Shape;24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a:extLst>
            <a:ext uri="{FF2B5EF4-FFF2-40B4-BE49-F238E27FC236}">
              <a16:creationId xmlns:a16="http://schemas.microsoft.com/office/drawing/2014/main" id="{F05DC2FF-C453-2069-5DB2-A50519291934}"/>
            </a:ext>
          </a:extLst>
        </p:cNvPr>
        <p:cNvGrpSpPr/>
        <p:nvPr/>
      </p:nvGrpSpPr>
      <p:grpSpPr>
        <a:xfrm>
          <a:off x="0" y="0"/>
          <a:ext cx="0" cy="0"/>
          <a:chOff x="0" y="0"/>
          <a:chExt cx="0" cy="0"/>
        </a:xfrm>
      </p:grpSpPr>
      <p:sp>
        <p:nvSpPr>
          <p:cNvPr id="242" name="Google Shape;242;p11:notes">
            <a:extLst>
              <a:ext uri="{FF2B5EF4-FFF2-40B4-BE49-F238E27FC236}">
                <a16:creationId xmlns:a16="http://schemas.microsoft.com/office/drawing/2014/main" id="{08B2FE49-00F7-0451-B1C2-BFDADCC5E9A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3" name="Google Shape;243;p11:notes">
            <a:extLst>
              <a:ext uri="{FF2B5EF4-FFF2-40B4-BE49-F238E27FC236}">
                <a16:creationId xmlns:a16="http://schemas.microsoft.com/office/drawing/2014/main" id="{5B21C316-6FF4-A294-529C-28EC8416C2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1147776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a:extLst>
            <a:ext uri="{FF2B5EF4-FFF2-40B4-BE49-F238E27FC236}">
              <a16:creationId xmlns:a16="http://schemas.microsoft.com/office/drawing/2014/main" id="{F4E6936C-1A9F-6BCA-CD5C-22CC34E564B9}"/>
            </a:ext>
          </a:extLst>
        </p:cNvPr>
        <p:cNvGrpSpPr/>
        <p:nvPr/>
      </p:nvGrpSpPr>
      <p:grpSpPr>
        <a:xfrm>
          <a:off x="0" y="0"/>
          <a:ext cx="0" cy="0"/>
          <a:chOff x="0" y="0"/>
          <a:chExt cx="0" cy="0"/>
        </a:xfrm>
      </p:grpSpPr>
      <p:sp>
        <p:nvSpPr>
          <p:cNvPr id="242" name="Google Shape;242;p11:notes">
            <a:extLst>
              <a:ext uri="{FF2B5EF4-FFF2-40B4-BE49-F238E27FC236}">
                <a16:creationId xmlns:a16="http://schemas.microsoft.com/office/drawing/2014/main" id="{07B1E1CA-7F66-0EC1-E18F-CB54121B218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3" name="Google Shape;243;p11:notes">
            <a:extLst>
              <a:ext uri="{FF2B5EF4-FFF2-40B4-BE49-F238E27FC236}">
                <a16:creationId xmlns:a16="http://schemas.microsoft.com/office/drawing/2014/main" id="{1FB0C47C-3B1E-AD4B-E07C-C70AD39DEC0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5467026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1" name="Google Shape;291;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txBody>
          <a:bodyPr/>
          <a:lstStyle/>
          <a:p>
            <a:endParaRPr lang="en-IN"/>
          </a:p>
        </p:txBody>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ransition spd="slow">
    <p:wip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png"/><Relationship Id="rId7"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27.png"/><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5" name="Google Shape;85;p13"/>
          <p:cNvSpPr txBox="1"/>
          <p:nvPr/>
        </p:nvSpPr>
        <p:spPr>
          <a:xfrm>
            <a:off x="3000375" y="1628330"/>
            <a:ext cx="6191250" cy="365670"/>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0" i="0" u="none" strike="noStrike" cap="none" dirty="0">
                <a:solidFill>
                  <a:srgbClr val="9CA3AF"/>
                </a:solidFill>
                <a:latin typeface="Urbanist"/>
                <a:ea typeface="Urbanist"/>
                <a:cs typeface="Urbanist"/>
                <a:sym typeface="Urbanist"/>
              </a:rPr>
              <a:t>Future Trends &amp; Strategic Insights</a:t>
            </a:r>
            <a:endParaRPr dirty="0"/>
          </a:p>
        </p:txBody>
      </p:sp>
      <p:sp>
        <p:nvSpPr>
          <p:cNvPr id="86" name="Google Shape;86;p13"/>
          <p:cNvSpPr txBox="1"/>
          <p:nvPr/>
        </p:nvSpPr>
        <p:spPr>
          <a:xfrm>
            <a:off x="2845594" y="2113809"/>
            <a:ext cx="6500812" cy="1508521"/>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5400" b="1" i="0" u="none" strike="noStrike" cap="none" dirty="0">
                <a:solidFill>
                  <a:srgbClr val="F5F5F5"/>
                </a:solidFill>
                <a:latin typeface="Urbanist"/>
                <a:ea typeface="Urbanist"/>
                <a:cs typeface="Urbanist"/>
                <a:sym typeface="Urbanist"/>
              </a:rPr>
              <a:t>Tourism Demand</a:t>
            </a:r>
            <a:br>
              <a:rPr lang="en-US" sz="1800" b="0" i="0" u="none" strike="noStrike" cap="none" dirty="0">
                <a:solidFill>
                  <a:schemeClr val="dk1"/>
                </a:solidFill>
                <a:latin typeface="Calibri"/>
                <a:ea typeface="Calibri"/>
                <a:cs typeface="Calibri"/>
                <a:sym typeface="Calibri"/>
              </a:rPr>
            </a:br>
            <a:r>
              <a:rPr lang="en-US" sz="5400" b="1" i="0" u="none" strike="noStrike" cap="none" dirty="0">
                <a:solidFill>
                  <a:srgbClr val="F5F5F5"/>
                </a:solidFill>
                <a:latin typeface="Urbanist"/>
                <a:ea typeface="Urbanist"/>
                <a:cs typeface="Urbanist"/>
                <a:sym typeface="Urbanist"/>
              </a:rPr>
              <a:t> Forecasting Analysis</a:t>
            </a:r>
            <a:endParaRPr dirty="0"/>
          </a:p>
        </p:txBody>
      </p:sp>
      <p:sp>
        <p:nvSpPr>
          <p:cNvPr id="87" name="Google Shape;87;p13"/>
          <p:cNvSpPr txBox="1"/>
          <p:nvPr/>
        </p:nvSpPr>
        <p:spPr>
          <a:xfrm>
            <a:off x="3000375" y="4977705"/>
            <a:ext cx="6191250" cy="41549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350" b="0" i="0" u="none" strike="noStrike" cap="none" dirty="0">
                <a:solidFill>
                  <a:srgbClr val="6B7280"/>
                </a:solidFill>
                <a:latin typeface="Urbanist"/>
                <a:ea typeface="Urbanist"/>
                <a:cs typeface="Urbanist"/>
                <a:sym typeface="Urbanist"/>
              </a:rPr>
              <a:t>ROHAN SINGH (G20 SQL) </a:t>
            </a:r>
            <a:br>
              <a:rPr lang="en-US" sz="1800" b="0" i="0" u="none" strike="noStrike" cap="none" dirty="0">
                <a:solidFill>
                  <a:schemeClr val="dk1"/>
                </a:solidFill>
                <a:latin typeface="Calibri"/>
                <a:ea typeface="Calibri"/>
                <a:cs typeface="Calibri"/>
                <a:sym typeface="Calibri"/>
              </a:rPr>
            </a:br>
            <a:r>
              <a:rPr lang="en-US" sz="1350" b="0" i="0" u="none" strike="noStrike" cap="none" dirty="0">
                <a:solidFill>
                  <a:srgbClr val="6B7280"/>
                </a:solidFill>
                <a:latin typeface="Urbanist"/>
                <a:ea typeface="Urbanist"/>
                <a:cs typeface="Urbanist"/>
                <a:sym typeface="Urbanist"/>
              </a:rPr>
              <a:t> DECEMBER 13, 2025</a:t>
            </a:r>
            <a:endParaRPr dirty="0"/>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Shape 91"/>
        <p:cNvGrpSpPr/>
        <p:nvPr/>
      </p:nvGrpSpPr>
      <p:grpSpPr>
        <a:xfrm>
          <a:off x="0" y="0"/>
          <a:ext cx="0" cy="0"/>
          <a:chOff x="0" y="0"/>
          <a:chExt cx="0" cy="0"/>
        </a:xfrm>
      </p:grpSpPr>
      <p:pic>
        <p:nvPicPr>
          <p:cNvPr id="92" name="Google Shape;92;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93" name="Google Shape;93;p14" descr="image.png"/>
          <p:cNvPicPr preferRelativeResize="0"/>
          <p:nvPr/>
        </p:nvPicPr>
        <p:blipFill rotWithShape="1">
          <a:blip r:embed="rId4">
            <a:alphaModFix/>
          </a:blip>
          <a:srcRect/>
          <a:stretch/>
        </p:blipFill>
        <p:spPr>
          <a:xfrm>
            <a:off x="571500" y="2552700"/>
            <a:ext cx="3492549" cy="2798415"/>
          </a:xfrm>
          <a:prstGeom prst="rect">
            <a:avLst/>
          </a:prstGeom>
          <a:noFill/>
          <a:ln>
            <a:noFill/>
          </a:ln>
        </p:spPr>
      </p:pic>
      <p:pic>
        <p:nvPicPr>
          <p:cNvPr id="94" name="Google Shape;94;p14" descr="image.png"/>
          <p:cNvPicPr preferRelativeResize="0"/>
          <p:nvPr/>
        </p:nvPicPr>
        <p:blipFill rotWithShape="1">
          <a:blip r:embed="rId5">
            <a:alphaModFix/>
          </a:blip>
          <a:srcRect/>
          <a:stretch/>
        </p:blipFill>
        <p:spPr>
          <a:xfrm>
            <a:off x="4349799" y="2552700"/>
            <a:ext cx="3492549" cy="2798415"/>
          </a:xfrm>
          <a:prstGeom prst="rect">
            <a:avLst/>
          </a:prstGeom>
          <a:noFill/>
          <a:ln>
            <a:noFill/>
          </a:ln>
        </p:spPr>
      </p:pic>
      <p:pic>
        <p:nvPicPr>
          <p:cNvPr id="95" name="Google Shape;95;p14" descr="image.png"/>
          <p:cNvPicPr preferRelativeResize="0"/>
          <p:nvPr/>
        </p:nvPicPr>
        <p:blipFill rotWithShape="1">
          <a:blip r:embed="rId6">
            <a:alphaModFix/>
          </a:blip>
          <a:srcRect/>
          <a:stretch/>
        </p:blipFill>
        <p:spPr>
          <a:xfrm>
            <a:off x="8128099" y="2552700"/>
            <a:ext cx="3492549" cy="2798415"/>
          </a:xfrm>
          <a:prstGeom prst="rect">
            <a:avLst/>
          </a:prstGeom>
          <a:noFill/>
          <a:ln>
            <a:noFill/>
          </a:ln>
        </p:spPr>
      </p:pic>
      <p:pic>
        <p:nvPicPr>
          <p:cNvPr id="96" name="Google Shape;96;p14" descr="image.png"/>
          <p:cNvPicPr preferRelativeResize="0"/>
          <p:nvPr/>
        </p:nvPicPr>
        <p:blipFill rotWithShape="1">
          <a:blip r:embed="rId7">
            <a:alphaModFix/>
          </a:blip>
          <a:srcRect/>
          <a:stretch/>
        </p:blipFill>
        <p:spPr>
          <a:xfrm>
            <a:off x="8413849" y="2876550"/>
            <a:ext cx="2921049" cy="457200"/>
          </a:xfrm>
          <a:prstGeom prst="rect">
            <a:avLst/>
          </a:prstGeom>
          <a:noFill/>
          <a:ln>
            <a:noFill/>
          </a:ln>
        </p:spPr>
      </p:pic>
      <p:sp>
        <p:nvSpPr>
          <p:cNvPr id="97" name="Google Shape;97;p14"/>
          <p:cNvSpPr txBox="1"/>
          <p:nvPr/>
        </p:nvSpPr>
        <p:spPr>
          <a:xfrm>
            <a:off x="857250" y="3524250"/>
            <a:ext cx="3067102" cy="29334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100" b="1" i="0" u="none" strike="noStrike" cap="none">
                <a:solidFill>
                  <a:srgbClr val="F87171"/>
                </a:solidFill>
                <a:latin typeface="Urbanist"/>
                <a:ea typeface="Urbanist"/>
                <a:cs typeface="Urbanist"/>
                <a:sym typeface="Urbanist"/>
              </a:rPr>
              <a:t>01. Foundation</a:t>
            </a:r>
            <a:endParaRPr/>
          </a:p>
        </p:txBody>
      </p:sp>
      <p:sp>
        <p:nvSpPr>
          <p:cNvPr id="98" name="Google Shape;98;p14"/>
          <p:cNvSpPr txBox="1"/>
          <p:nvPr/>
        </p:nvSpPr>
        <p:spPr>
          <a:xfrm>
            <a:off x="857250" y="4008090"/>
            <a:ext cx="2921049" cy="738664"/>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E5E5E5"/>
                </a:solidFill>
                <a:latin typeface="Urbanist"/>
                <a:ea typeface="Urbanist"/>
                <a:cs typeface="Urbanist"/>
                <a:sym typeface="Urbanist"/>
              </a:rPr>
              <a:t>Problem Statement, Objectives, Methodology</a:t>
            </a:r>
            <a:r>
              <a:rPr lang="en-US" sz="1500" dirty="0">
                <a:solidFill>
                  <a:srgbClr val="E5E5E5"/>
                </a:solidFill>
                <a:latin typeface="Urbanist"/>
                <a:ea typeface="Urbanist"/>
                <a:cs typeface="Urbanist"/>
                <a:sym typeface="Urbanist"/>
              </a:rPr>
              <a:t>.</a:t>
            </a:r>
            <a:endParaRPr dirty="0"/>
          </a:p>
        </p:txBody>
      </p:sp>
      <p:sp>
        <p:nvSpPr>
          <p:cNvPr id="99" name="Google Shape;99;p14"/>
          <p:cNvSpPr txBox="1"/>
          <p:nvPr/>
        </p:nvSpPr>
        <p:spPr>
          <a:xfrm>
            <a:off x="4635549" y="3524250"/>
            <a:ext cx="3067102" cy="355482"/>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100" b="1" i="0" u="none" strike="noStrike" cap="none" dirty="0">
                <a:solidFill>
                  <a:srgbClr val="F87171"/>
                </a:solidFill>
                <a:latin typeface="Urbanist"/>
                <a:ea typeface="Urbanist"/>
                <a:cs typeface="Urbanist"/>
                <a:sym typeface="Urbanist"/>
              </a:rPr>
              <a:t>02. Execution &amp; Analysis</a:t>
            </a:r>
            <a:endParaRPr dirty="0"/>
          </a:p>
        </p:txBody>
      </p:sp>
      <p:sp>
        <p:nvSpPr>
          <p:cNvPr id="100" name="Google Shape;100;p14"/>
          <p:cNvSpPr txBox="1"/>
          <p:nvPr/>
        </p:nvSpPr>
        <p:spPr>
          <a:xfrm>
            <a:off x="4635549" y="4008090"/>
            <a:ext cx="2921049" cy="1107996"/>
          </a:xfrm>
          <a:prstGeom prst="rect">
            <a:avLst/>
          </a:prstGeom>
          <a:noFill/>
          <a:ln>
            <a:noFill/>
          </a:ln>
        </p:spPr>
        <p:txBody>
          <a:bodyPr spcFirstLastPara="1" wrap="square" lIns="0" tIns="0" rIns="0" bIns="0" anchor="t" anchorCtr="0">
            <a:spAutoFit/>
          </a:bodyPr>
          <a:lstStyle/>
          <a:p>
            <a:pPr lvl="0">
              <a:lnSpc>
                <a:spcPct val="160000"/>
              </a:lnSpc>
            </a:pPr>
            <a:r>
              <a:rPr lang="en-US" sz="1500" dirty="0">
                <a:solidFill>
                  <a:srgbClr val="E5E5E5"/>
                </a:solidFill>
                <a:latin typeface="Urbanist"/>
                <a:ea typeface="Urbanist"/>
                <a:cs typeface="Urbanist"/>
                <a:sym typeface="Urbanist"/>
              </a:rPr>
              <a:t>Performed Operations, </a:t>
            </a:r>
            <a:r>
              <a:rPr lang="en-US" sz="1500" b="0" i="0" u="none" strike="noStrike" cap="none" dirty="0">
                <a:solidFill>
                  <a:srgbClr val="E5E5E5"/>
                </a:solidFill>
                <a:latin typeface="Urbanist"/>
                <a:ea typeface="Urbanist"/>
                <a:cs typeface="Urbanist"/>
                <a:sym typeface="Urbanist"/>
              </a:rPr>
              <a:t>DAX Measures, </a:t>
            </a:r>
            <a:r>
              <a:rPr lang="en-US" sz="1500" dirty="0">
                <a:solidFill>
                  <a:srgbClr val="E5E5E5"/>
                </a:solidFill>
                <a:latin typeface="Urbanist"/>
                <a:ea typeface="Urbanist"/>
                <a:cs typeface="Urbanist"/>
                <a:sym typeface="Urbanist"/>
              </a:rPr>
              <a:t>Core Visualization, Forecasting Charts.</a:t>
            </a:r>
            <a:endParaRPr dirty="0"/>
          </a:p>
        </p:txBody>
      </p:sp>
      <p:sp>
        <p:nvSpPr>
          <p:cNvPr id="101" name="Google Shape;101;p14"/>
          <p:cNvSpPr txBox="1"/>
          <p:nvPr/>
        </p:nvSpPr>
        <p:spPr>
          <a:xfrm>
            <a:off x="8413849" y="3524250"/>
            <a:ext cx="3067102" cy="355482"/>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100" b="1" i="0" u="none" strike="noStrike" cap="none" dirty="0">
                <a:solidFill>
                  <a:srgbClr val="F87171"/>
                </a:solidFill>
                <a:latin typeface="Urbanist"/>
                <a:ea typeface="Urbanist"/>
                <a:cs typeface="Urbanist"/>
                <a:sym typeface="Urbanist"/>
              </a:rPr>
              <a:t>03. </a:t>
            </a:r>
            <a:r>
              <a:rPr lang="en-US" sz="2100" b="1" i="0" u="none" strike="noStrike" cap="none" dirty="0" err="1">
                <a:solidFill>
                  <a:srgbClr val="F87171"/>
                </a:solidFill>
                <a:latin typeface="Urbanist"/>
                <a:ea typeface="Urbanist"/>
                <a:cs typeface="Urbanist"/>
                <a:sym typeface="Urbanist"/>
              </a:rPr>
              <a:t>Counclusion</a:t>
            </a:r>
            <a:endParaRPr dirty="0"/>
          </a:p>
        </p:txBody>
      </p:sp>
      <p:sp>
        <p:nvSpPr>
          <p:cNvPr id="102" name="Google Shape;102;p14"/>
          <p:cNvSpPr txBox="1"/>
          <p:nvPr/>
        </p:nvSpPr>
        <p:spPr>
          <a:xfrm>
            <a:off x="8413849" y="4008090"/>
            <a:ext cx="2921049" cy="738664"/>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E5E5E5"/>
                </a:solidFill>
                <a:latin typeface="Urbanist"/>
                <a:ea typeface="Urbanist"/>
                <a:cs typeface="Urbanist"/>
                <a:sym typeface="Urbanist"/>
              </a:rPr>
              <a:t>Outcome Summary, Social Relevance.</a:t>
            </a:r>
            <a:endParaRPr dirty="0"/>
          </a:p>
        </p:txBody>
      </p:sp>
      <p:pic>
        <p:nvPicPr>
          <p:cNvPr id="103" name="Google Shape;103;p14" descr="image.png"/>
          <p:cNvPicPr preferRelativeResize="0"/>
          <p:nvPr/>
        </p:nvPicPr>
        <p:blipFill rotWithShape="1">
          <a:blip r:embed="rId8">
            <a:alphaModFix/>
          </a:blip>
          <a:srcRect/>
          <a:stretch/>
        </p:blipFill>
        <p:spPr>
          <a:xfrm>
            <a:off x="857250" y="2905125"/>
            <a:ext cx="428625" cy="381000"/>
          </a:xfrm>
          <a:prstGeom prst="rect">
            <a:avLst/>
          </a:prstGeom>
          <a:noFill/>
          <a:ln>
            <a:noFill/>
          </a:ln>
        </p:spPr>
      </p:pic>
      <p:pic>
        <p:nvPicPr>
          <p:cNvPr id="104" name="Google Shape;104;p14" descr="image.png"/>
          <p:cNvPicPr preferRelativeResize="0"/>
          <p:nvPr/>
        </p:nvPicPr>
        <p:blipFill rotWithShape="1">
          <a:blip r:embed="rId9">
            <a:alphaModFix/>
          </a:blip>
          <a:srcRect/>
          <a:stretch/>
        </p:blipFill>
        <p:spPr>
          <a:xfrm>
            <a:off x="4635549" y="2905125"/>
            <a:ext cx="476250" cy="381000"/>
          </a:xfrm>
          <a:prstGeom prst="rect">
            <a:avLst/>
          </a:prstGeom>
          <a:noFill/>
          <a:ln>
            <a:noFill/>
          </a:ln>
        </p:spPr>
      </p:pic>
      <p:sp>
        <p:nvSpPr>
          <p:cNvPr id="105" name="Google Shape;105;p14"/>
          <p:cNvSpPr txBox="1"/>
          <p:nvPr/>
        </p:nvSpPr>
        <p:spPr>
          <a:xfrm>
            <a:off x="571500" y="571500"/>
            <a:ext cx="11601450" cy="521940"/>
          </a:xfrm>
          <a:prstGeom prst="rect">
            <a:avLst/>
          </a:prstGeom>
          <a:noFill/>
          <a:ln>
            <a:noFill/>
          </a:ln>
        </p:spPr>
        <p:txBody>
          <a:bodyPr spcFirstLastPara="1" wrap="square" lIns="0" tIns="0" rIns="0" bIns="0" anchor="t" anchorCtr="0">
            <a:spAutoFit/>
          </a:bodyPr>
          <a:lstStyle/>
          <a:p>
            <a:pPr marL="0" marR="0" lvl="0" indent="0" algn="l" rtl="0">
              <a:lnSpc>
                <a:spcPct val="109972"/>
              </a:lnSpc>
              <a:spcBef>
                <a:spcPts val="0"/>
              </a:spcBef>
              <a:spcAft>
                <a:spcPts val="0"/>
              </a:spcAft>
              <a:buNone/>
            </a:pPr>
            <a:r>
              <a:rPr lang="en-US" sz="3600" b="1" i="0" u="none" strike="noStrike" cap="none">
                <a:solidFill>
                  <a:srgbClr val="60A5FA"/>
                </a:solidFill>
                <a:latin typeface="Urbanist"/>
                <a:ea typeface="Urbanist"/>
                <a:cs typeface="Urbanist"/>
                <a:sym typeface="Urbanist"/>
              </a:rPr>
              <a:t>Table of Contents</a:t>
            </a:r>
            <a:endParaRPr/>
          </a:p>
        </p:txBody>
      </p:sp>
      <p:sp>
        <p:nvSpPr>
          <p:cNvPr id="106" name="Google Shape;106;p14"/>
          <p:cNvSpPr/>
          <p:nvPr/>
        </p:nvSpPr>
        <p:spPr>
          <a:xfrm>
            <a:off x="571500" y="1217265"/>
            <a:ext cx="11049000" cy="19050"/>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Shape 110"/>
        <p:cNvGrpSpPr/>
        <p:nvPr/>
      </p:nvGrpSpPr>
      <p:grpSpPr>
        <a:xfrm>
          <a:off x="0" y="0"/>
          <a:ext cx="0" cy="0"/>
          <a:chOff x="0" y="0"/>
          <a:chExt cx="0" cy="0"/>
        </a:xfrm>
      </p:grpSpPr>
      <p:pic>
        <p:nvPicPr>
          <p:cNvPr id="111" name="Google Shape;111;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12" name="Google Shape;112;p15" descr="image.png"/>
          <p:cNvPicPr preferRelativeResize="0"/>
          <p:nvPr/>
        </p:nvPicPr>
        <p:blipFill rotWithShape="1">
          <a:blip r:embed="rId4">
            <a:alphaModFix/>
          </a:blip>
          <a:srcRect/>
          <a:stretch/>
        </p:blipFill>
        <p:spPr>
          <a:xfrm>
            <a:off x="571500" y="2052637"/>
            <a:ext cx="5286375" cy="3798540"/>
          </a:xfrm>
          <a:prstGeom prst="rect">
            <a:avLst/>
          </a:prstGeom>
          <a:noFill/>
          <a:ln>
            <a:noFill/>
          </a:ln>
        </p:spPr>
      </p:pic>
      <p:pic>
        <p:nvPicPr>
          <p:cNvPr id="113" name="Google Shape;113;p15" descr="image.png"/>
          <p:cNvPicPr preferRelativeResize="0"/>
          <p:nvPr/>
        </p:nvPicPr>
        <p:blipFill rotWithShape="1">
          <a:blip r:embed="rId5">
            <a:alphaModFix/>
          </a:blip>
          <a:srcRect/>
          <a:stretch/>
        </p:blipFill>
        <p:spPr>
          <a:xfrm>
            <a:off x="6334125" y="2052637"/>
            <a:ext cx="5286375" cy="3798540"/>
          </a:xfrm>
          <a:prstGeom prst="rect">
            <a:avLst/>
          </a:prstGeom>
          <a:noFill/>
          <a:ln>
            <a:noFill/>
          </a:ln>
        </p:spPr>
      </p:pic>
      <p:sp>
        <p:nvSpPr>
          <p:cNvPr id="114" name="Google Shape;114;p15"/>
          <p:cNvSpPr txBox="1"/>
          <p:nvPr/>
        </p:nvSpPr>
        <p:spPr>
          <a:xfrm>
            <a:off x="962025" y="2443162"/>
            <a:ext cx="4730591" cy="29334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100" b="1" i="0" u="none" strike="noStrike" cap="none" dirty="0">
                <a:solidFill>
                  <a:srgbClr val="F87171"/>
                </a:solidFill>
                <a:latin typeface="Urbanist"/>
                <a:ea typeface="Urbanist"/>
                <a:cs typeface="Urbanist"/>
                <a:sym typeface="Urbanist"/>
              </a:rPr>
              <a:t>Volatility in Tourism</a:t>
            </a:r>
            <a:endParaRPr dirty="0"/>
          </a:p>
        </p:txBody>
      </p:sp>
      <p:sp>
        <p:nvSpPr>
          <p:cNvPr id="115" name="Google Shape;115;p15"/>
          <p:cNvSpPr txBox="1"/>
          <p:nvPr/>
        </p:nvSpPr>
        <p:spPr>
          <a:xfrm>
            <a:off x="962025" y="2927002"/>
            <a:ext cx="4505325" cy="1969770"/>
          </a:xfrm>
          <a:prstGeom prst="rect">
            <a:avLst/>
          </a:prstGeom>
          <a:noFill/>
          <a:ln>
            <a:noFill/>
          </a:ln>
        </p:spPr>
        <p:txBody>
          <a:bodyPr spcFirstLastPara="1" wrap="square" lIns="0" tIns="0" rIns="0" bIns="0" anchor="t" anchorCtr="0">
            <a:spAutoFit/>
          </a:bodyPr>
          <a:lstStyle/>
          <a:p>
            <a:pPr lvl="0">
              <a:lnSpc>
                <a:spcPct val="160000"/>
              </a:lnSpc>
            </a:pPr>
            <a:r>
              <a:rPr lang="en-US" sz="1600" dirty="0">
                <a:solidFill>
                  <a:schemeClr val="bg1"/>
                </a:solidFill>
                <a:latin typeface="Urbanist" panose="020B0604020202020204" charset="0"/>
                <a:ea typeface="Urbanist" panose="020B0604020202020204" charset="0"/>
                <a:cs typeface="Urbanist" panose="020B0604020202020204" charset="0"/>
              </a:rPr>
              <a:t>Tourism is highly dynamic in nature because of frequent ups and downs caused by seasons, economic changes, and natural disasters, making it difficult for tourism businesses to predict demand and plan properly</a:t>
            </a:r>
            <a:r>
              <a:rPr lang="en-US" sz="1500" b="0" i="0" u="none" strike="noStrike" cap="none" dirty="0">
                <a:solidFill>
                  <a:schemeClr val="bg1"/>
                </a:solidFill>
                <a:latin typeface="Urbanist" panose="020B0604020202020204" charset="0"/>
                <a:ea typeface="Urbanist" panose="020B0604020202020204" charset="0"/>
                <a:cs typeface="Urbanist" panose="020B0604020202020204" charset="0"/>
                <a:sym typeface="Urbanist"/>
              </a:rPr>
              <a:t>.</a:t>
            </a:r>
            <a:endParaRPr dirty="0">
              <a:solidFill>
                <a:schemeClr val="bg1"/>
              </a:solidFill>
              <a:latin typeface="Urbanist" panose="020B0604020202020204" charset="0"/>
              <a:ea typeface="Urbanist" panose="020B0604020202020204" charset="0"/>
              <a:cs typeface="Urbanist" panose="020B0604020202020204" charset="0"/>
            </a:endParaRPr>
          </a:p>
        </p:txBody>
      </p:sp>
      <p:sp>
        <p:nvSpPr>
          <p:cNvPr id="116" name="Google Shape;116;p15"/>
          <p:cNvSpPr txBox="1"/>
          <p:nvPr/>
        </p:nvSpPr>
        <p:spPr>
          <a:xfrm>
            <a:off x="6724650" y="2443162"/>
            <a:ext cx="4730591" cy="29334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100" b="1" i="0" u="none" strike="noStrike" cap="none" dirty="0">
                <a:solidFill>
                  <a:srgbClr val="F87171"/>
                </a:solidFill>
                <a:latin typeface="Urbanist"/>
                <a:ea typeface="Urbanist"/>
                <a:cs typeface="Urbanist"/>
                <a:sym typeface="Urbanist"/>
              </a:rPr>
              <a:t>Key Challenges</a:t>
            </a:r>
            <a:endParaRPr dirty="0"/>
          </a:p>
        </p:txBody>
      </p:sp>
      <p:sp>
        <p:nvSpPr>
          <p:cNvPr id="123" name="Google Shape;123;p15"/>
          <p:cNvSpPr txBox="1"/>
          <p:nvPr/>
        </p:nvSpPr>
        <p:spPr>
          <a:xfrm>
            <a:off x="571500" y="571500"/>
            <a:ext cx="11601450" cy="521940"/>
          </a:xfrm>
          <a:prstGeom prst="rect">
            <a:avLst/>
          </a:prstGeom>
          <a:noFill/>
          <a:ln>
            <a:noFill/>
          </a:ln>
        </p:spPr>
        <p:txBody>
          <a:bodyPr spcFirstLastPara="1" wrap="square" lIns="0" tIns="0" rIns="0" bIns="0" anchor="t" anchorCtr="0">
            <a:spAutoFit/>
          </a:bodyPr>
          <a:lstStyle/>
          <a:p>
            <a:pPr marL="0" marR="0" lvl="0" indent="0" algn="l" rtl="0">
              <a:lnSpc>
                <a:spcPct val="109972"/>
              </a:lnSpc>
              <a:spcBef>
                <a:spcPts val="0"/>
              </a:spcBef>
              <a:spcAft>
                <a:spcPts val="0"/>
              </a:spcAft>
              <a:buNone/>
            </a:pPr>
            <a:r>
              <a:rPr lang="en-US" sz="3600" b="1" i="0" u="none" strike="noStrike" cap="none">
                <a:solidFill>
                  <a:srgbClr val="60A5FA"/>
                </a:solidFill>
                <a:latin typeface="Urbanist"/>
                <a:ea typeface="Urbanist"/>
                <a:cs typeface="Urbanist"/>
                <a:sym typeface="Urbanist"/>
              </a:rPr>
              <a:t>Problem Statement</a:t>
            </a:r>
            <a:endParaRPr/>
          </a:p>
        </p:txBody>
      </p:sp>
      <p:sp>
        <p:nvSpPr>
          <p:cNvPr id="124" name="Google Shape;124;p15"/>
          <p:cNvSpPr/>
          <p:nvPr/>
        </p:nvSpPr>
        <p:spPr>
          <a:xfrm>
            <a:off x="571500" y="1217265"/>
            <a:ext cx="11049000" cy="19050"/>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 name="TextBox 4">
            <a:extLst>
              <a:ext uri="{FF2B5EF4-FFF2-40B4-BE49-F238E27FC236}">
                <a16:creationId xmlns:a16="http://schemas.microsoft.com/office/drawing/2014/main" id="{6E5C6159-A86C-BDAA-2719-9C5576FA54BA}"/>
              </a:ext>
            </a:extLst>
          </p:cNvPr>
          <p:cNvSpPr txBox="1"/>
          <p:nvPr/>
        </p:nvSpPr>
        <p:spPr>
          <a:xfrm>
            <a:off x="6724649" y="2927002"/>
            <a:ext cx="4730591" cy="2631490"/>
          </a:xfrm>
          <a:prstGeom prst="rect">
            <a:avLst/>
          </a:prstGeom>
          <a:noFill/>
        </p:spPr>
        <p:txBody>
          <a:bodyPr wrap="square" rtlCol="0">
            <a:spAutoFit/>
          </a:bodyPr>
          <a:lstStyle/>
          <a:p>
            <a:pPr marL="285750" indent="-285750">
              <a:buClr>
                <a:schemeClr val="bg1"/>
              </a:buClr>
              <a:buFont typeface="Arial" panose="020B0604020202020204" pitchFamily="34" charset="0"/>
              <a:buChar char="•"/>
            </a:pPr>
            <a:r>
              <a:rPr lang="en-US" sz="1500" b="1" dirty="0">
                <a:solidFill>
                  <a:schemeClr val="bg1"/>
                </a:solidFill>
                <a:latin typeface="Urbanist" panose="020B0604020202020204" charset="0"/>
                <a:ea typeface="Urbanist" panose="020B0604020202020204" charset="0"/>
                <a:cs typeface="Urbanist" panose="020B0604020202020204" charset="0"/>
              </a:rPr>
              <a:t>Unpredictable tourist demand</a:t>
            </a:r>
            <a:r>
              <a:rPr lang="en-US" sz="1500" dirty="0">
                <a:solidFill>
                  <a:schemeClr val="bg1"/>
                </a:solidFill>
                <a:latin typeface="Urbanist" panose="020B0604020202020204" charset="0"/>
                <a:ea typeface="Urbanist" panose="020B0604020202020204" charset="0"/>
                <a:cs typeface="Urbanist" panose="020B0604020202020204" charset="0"/>
              </a:rPr>
              <a:t> – hard to know how many visitors will come</a:t>
            </a:r>
          </a:p>
          <a:p>
            <a:pPr marL="285750" indent="-285750">
              <a:buClr>
                <a:schemeClr val="bg1"/>
              </a:buClr>
              <a:buFont typeface="Arial" panose="020B0604020202020204" pitchFamily="34" charset="0"/>
              <a:buChar char="•"/>
            </a:pPr>
            <a:r>
              <a:rPr lang="en-US" sz="1500" b="1" dirty="0">
                <a:solidFill>
                  <a:schemeClr val="bg1"/>
                </a:solidFill>
                <a:latin typeface="Urbanist" panose="020B0604020202020204" charset="0"/>
                <a:ea typeface="Urbanist" panose="020B0604020202020204" charset="0"/>
                <a:cs typeface="Urbanist" panose="020B0604020202020204" charset="0"/>
              </a:rPr>
              <a:t>Revenue instability</a:t>
            </a:r>
            <a:r>
              <a:rPr lang="en-US" sz="1500" dirty="0">
                <a:solidFill>
                  <a:schemeClr val="bg1"/>
                </a:solidFill>
                <a:latin typeface="Urbanist" panose="020B0604020202020204" charset="0"/>
                <a:ea typeface="Urbanist" panose="020B0604020202020204" charset="0"/>
                <a:cs typeface="Urbanist" panose="020B0604020202020204" charset="0"/>
              </a:rPr>
              <a:t> – earnings go up and down frequently</a:t>
            </a:r>
          </a:p>
          <a:p>
            <a:pPr marL="285750" indent="-285750">
              <a:buClr>
                <a:schemeClr val="bg1"/>
              </a:buClr>
              <a:buFont typeface="Arial" panose="020B0604020202020204" pitchFamily="34" charset="0"/>
              <a:buChar char="•"/>
            </a:pPr>
            <a:r>
              <a:rPr lang="en-US" sz="1500" b="1" dirty="0">
                <a:solidFill>
                  <a:schemeClr val="bg1"/>
                </a:solidFill>
                <a:latin typeface="Urbanist" panose="020B0604020202020204" charset="0"/>
                <a:ea typeface="Urbanist" panose="020B0604020202020204" charset="0"/>
                <a:cs typeface="Urbanist" panose="020B0604020202020204" charset="0"/>
              </a:rPr>
              <a:t>Planning difficulties</a:t>
            </a:r>
            <a:r>
              <a:rPr lang="en-US" sz="1500" dirty="0">
                <a:solidFill>
                  <a:schemeClr val="bg1"/>
                </a:solidFill>
                <a:latin typeface="Urbanist" panose="020B0604020202020204" charset="0"/>
                <a:ea typeface="Urbanist" panose="020B0604020202020204" charset="0"/>
                <a:cs typeface="Urbanist" panose="020B0604020202020204" charset="0"/>
              </a:rPr>
              <a:t> – tough to manage staff, resources, and budgets</a:t>
            </a:r>
          </a:p>
          <a:p>
            <a:pPr marL="285750" indent="-285750">
              <a:buClr>
                <a:schemeClr val="bg1"/>
              </a:buClr>
              <a:buFont typeface="Arial" panose="020B0604020202020204" pitchFamily="34" charset="0"/>
              <a:buChar char="•"/>
            </a:pPr>
            <a:r>
              <a:rPr lang="en-US" sz="1500" b="1" dirty="0">
                <a:solidFill>
                  <a:schemeClr val="bg1"/>
                </a:solidFill>
                <a:latin typeface="Urbanist" panose="020B0604020202020204" charset="0"/>
                <a:ea typeface="Urbanist" panose="020B0604020202020204" charset="0"/>
                <a:cs typeface="Urbanist" panose="020B0604020202020204" charset="0"/>
              </a:rPr>
              <a:t>Higher operational costs </a:t>
            </a:r>
            <a:r>
              <a:rPr lang="en-US" sz="1500" dirty="0">
                <a:solidFill>
                  <a:schemeClr val="bg1"/>
                </a:solidFill>
                <a:latin typeface="Urbanist" panose="020B0604020202020204" charset="0"/>
                <a:ea typeface="Urbanist" panose="020B0604020202020204" charset="0"/>
                <a:cs typeface="Urbanist" panose="020B0604020202020204" charset="0"/>
              </a:rPr>
              <a:t>– businesses must stay prepared for sudden changes</a:t>
            </a:r>
          </a:p>
          <a:p>
            <a:pPr marL="285750" indent="-285750">
              <a:buClr>
                <a:schemeClr val="bg1"/>
              </a:buClr>
              <a:buFont typeface="Arial" panose="020B0604020202020204" pitchFamily="34" charset="0"/>
              <a:buChar char="•"/>
            </a:pPr>
            <a:r>
              <a:rPr lang="en-US" sz="1500" b="1" dirty="0">
                <a:solidFill>
                  <a:schemeClr val="bg1"/>
                </a:solidFill>
                <a:latin typeface="Urbanist" panose="020B0604020202020204" charset="0"/>
                <a:ea typeface="Urbanist" panose="020B0604020202020204" charset="0"/>
                <a:cs typeface="Urbanist" panose="020B0604020202020204" charset="0"/>
              </a:rPr>
              <a:t>Risk of business losses </a:t>
            </a:r>
            <a:r>
              <a:rPr lang="en-US" sz="1500" dirty="0">
                <a:solidFill>
                  <a:schemeClr val="bg1"/>
                </a:solidFill>
                <a:latin typeface="Urbanist" panose="020B0604020202020204" charset="0"/>
                <a:ea typeface="Urbanist" panose="020B0604020202020204" charset="0"/>
                <a:cs typeface="Urbanist" panose="020B0604020202020204" charset="0"/>
              </a:rPr>
              <a:t>– unexpected events can reduce visitors sharply.</a:t>
            </a:r>
          </a:p>
          <a:p>
            <a:endParaRPr lang="en-IN" sz="1500" dirty="0">
              <a:solidFill>
                <a:schemeClr val="bg1"/>
              </a:solidFill>
              <a:latin typeface="Urbanist" panose="020B0604020202020204" charset="0"/>
              <a:ea typeface="Urbanist" panose="020B0604020202020204" charset="0"/>
              <a:cs typeface="Urbanist" panose="020B0604020202020204" charset="0"/>
            </a:endParaRPr>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Shape 128"/>
        <p:cNvGrpSpPr/>
        <p:nvPr/>
      </p:nvGrpSpPr>
      <p:grpSpPr>
        <a:xfrm>
          <a:off x="0" y="0"/>
          <a:ext cx="0" cy="0"/>
          <a:chOff x="0" y="0"/>
          <a:chExt cx="0" cy="0"/>
        </a:xfrm>
      </p:grpSpPr>
      <p:pic>
        <p:nvPicPr>
          <p:cNvPr id="129" name="Google Shape;129;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30" name="Google Shape;130;p16" descr="image.png"/>
          <p:cNvPicPr preferRelativeResize="0"/>
          <p:nvPr/>
        </p:nvPicPr>
        <p:blipFill rotWithShape="1">
          <a:blip r:embed="rId4">
            <a:alphaModFix/>
          </a:blip>
          <a:srcRect/>
          <a:stretch/>
        </p:blipFill>
        <p:spPr>
          <a:xfrm>
            <a:off x="571500" y="2400300"/>
            <a:ext cx="3492549" cy="3103215"/>
          </a:xfrm>
          <a:prstGeom prst="rect">
            <a:avLst/>
          </a:prstGeom>
          <a:noFill/>
          <a:ln>
            <a:noFill/>
          </a:ln>
        </p:spPr>
      </p:pic>
      <p:pic>
        <p:nvPicPr>
          <p:cNvPr id="131" name="Google Shape;131;p16" descr="image.png"/>
          <p:cNvPicPr preferRelativeResize="0"/>
          <p:nvPr/>
        </p:nvPicPr>
        <p:blipFill rotWithShape="1">
          <a:blip r:embed="rId5">
            <a:alphaModFix/>
          </a:blip>
          <a:srcRect/>
          <a:stretch/>
        </p:blipFill>
        <p:spPr>
          <a:xfrm>
            <a:off x="4349799" y="2400300"/>
            <a:ext cx="3492549" cy="3103215"/>
          </a:xfrm>
          <a:prstGeom prst="rect">
            <a:avLst/>
          </a:prstGeom>
          <a:noFill/>
          <a:ln>
            <a:noFill/>
          </a:ln>
        </p:spPr>
      </p:pic>
      <p:pic>
        <p:nvPicPr>
          <p:cNvPr id="132" name="Google Shape;132;p16" descr="image.png"/>
          <p:cNvPicPr preferRelativeResize="0"/>
          <p:nvPr/>
        </p:nvPicPr>
        <p:blipFill rotWithShape="1">
          <a:blip r:embed="rId6">
            <a:alphaModFix/>
          </a:blip>
          <a:srcRect/>
          <a:stretch/>
        </p:blipFill>
        <p:spPr>
          <a:xfrm>
            <a:off x="8128099" y="2400300"/>
            <a:ext cx="3492549" cy="3103215"/>
          </a:xfrm>
          <a:prstGeom prst="rect">
            <a:avLst/>
          </a:prstGeom>
          <a:noFill/>
          <a:ln>
            <a:noFill/>
          </a:ln>
        </p:spPr>
      </p:pic>
      <p:pic>
        <p:nvPicPr>
          <p:cNvPr id="133" name="Google Shape;133;p16" descr="image.png"/>
          <p:cNvPicPr preferRelativeResize="0"/>
          <p:nvPr/>
        </p:nvPicPr>
        <p:blipFill rotWithShape="1">
          <a:blip r:embed="rId7">
            <a:alphaModFix/>
          </a:blip>
          <a:srcRect/>
          <a:stretch/>
        </p:blipFill>
        <p:spPr>
          <a:xfrm>
            <a:off x="857250" y="2724150"/>
            <a:ext cx="2921049" cy="457200"/>
          </a:xfrm>
          <a:prstGeom prst="rect">
            <a:avLst/>
          </a:prstGeom>
          <a:noFill/>
          <a:ln>
            <a:noFill/>
          </a:ln>
        </p:spPr>
      </p:pic>
      <p:sp>
        <p:nvSpPr>
          <p:cNvPr id="134" name="Google Shape;134;p16"/>
          <p:cNvSpPr txBox="1"/>
          <p:nvPr/>
        </p:nvSpPr>
        <p:spPr>
          <a:xfrm>
            <a:off x="857250" y="3371850"/>
            <a:ext cx="3067102" cy="29334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100" b="1" i="0" u="none" strike="noStrike" cap="none" dirty="0">
                <a:solidFill>
                  <a:srgbClr val="F87171"/>
                </a:solidFill>
                <a:latin typeface="Urbanist"/>
                <a:ea typeface="Urbanist"/>
                <a:cs typeface="Urbanist"/>
                <a:sym typeface="Urbanist"/>
              </a:rPr>
              <a:t>Identify Growth</a:t>
            </a:r>
            <a:endParaRPr dirty="0"/>
          </a:p>
        </p:txBody>
      </p:sp>
      <p:sp>
        <p:nvSpPr>
          <p:cNvPr id="135" name="Google Shape;135;p16"/>
          <p:cNvSpPr txBox="1"/>
          <p:nvPr/>
        </p:nvSpPr>
        <p:spPr>
          <a:xfrm>
            <a:off x="857250" y="3855690"/>
            <a:ext cx="2921049" cy="121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E5E5E5"/>
                </a:solidFill>
                <a:latin typeface="Urbanist"/>
                <a:ea typeface="Urbanist"/>
                <a:cs typeface="Urbanist"/>
                <a:sym typeface="Urbanist"/>
              </a:rPr>
              <a:t>Pinpoint countries and regions exhibiting strong year-over-year growth to target marketing efforts effectively.</a:t>
            </a:r>
            <a:endParaRPr dirty="0"/>
          </a:p>
        </p:txBody>
      </p:sp>
      <p:sp>
        <p:nvSpPr>
          <p:cNvPr id="136" name="Google Shape;136;p16"/>
          <p:cNvSpPr txBox="1"/>
          <p:nvPr/>
        </p:nvSpPr>
        <p:spPr>
          <a:xfrm>
            <a:off x="4635549" y="3371850"/>
            <a:ext cx="3067102" cy="29334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100" b="1" i="0" u="none" strike="noStrike" cap="none">
                <a:solidFill>
                  <a:srgbClr val="F87171"/>
                </a:solidFill>
                <a:latin typeface="Urbanist"/>
                <a:ea typeface="Urbanist"/>
                <a:cs typeface="Urbanist"/>
                <a:sym typeface="Urbanist"/>
              </a:rPr>
              <a:t>Analyze Spend</a:t>
            </a:r>
            <a:endParaRPr/>
          </a:p>
        </p:txBody>
      </p:sp>
      <p:sp>
        <p:nvSpPr>
          <p:cNvPr id="137" name="Google Shape;137;p16"/>
          <p:cNvSpPr txBox="1"/>
          <p:nvPr/>
        </p:nvSpPr>
        <p:spPr>
          <a:xfrm>
            <a:off x="4635549" y="3855690"/>
            <a:ext cx="2921049" cy="121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E5E5E5"/>
                </a:solidFill>
                <a:latin typeface="Urbanist"/>
                <a:ea typeface="Urbanist"/>
                <a:cs typeface="Urbanist"/>
                <a:sym typeface="Urbanist"/>
              </a:rPr>
              <a:t>Understand spending behaviors and the correlation between visitor volume and spend per capita.</a:t>
            </a:r>
            <a:endParaRPr dirty="0"/>
          </a:p>
        </p:txBody>
      </p:sp>
      <p:sp>
        <p:nvSpPr>
          <p:cNvPr id="138" name="Google Shape;138;p16"/>
          <p:cNvSpPr txBox="1"/>
          <p:nvPr/>
        </p:nvSpPr>
        <p:spPr>
          <a:xfrm>
            <a:off x="8413849" y="3371850"/>
            <a:ext cx="3067102" cy="29334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100" b="1" i="0" u="none" strike="noStrike" cap="none">
                <a:solidFill>
                  <a:srgbClr val="F87171"/>
                </a:solidFill>
                <a:latin typeface="Urbanist"/>
                <a:ea typeface="Urbanist"/>
                <a:cs typeface="Urbanist"/>
                <a:sym typeface="Urbanist"/>
              </a:rPr>
              <a:t>Forecast Demand</a:t>
            </a:r>
            <a:endParaRPr/>
          </a:p>
        </p:txBody>
      </p:sp>
      <p:sp>
        <p:nvSpPr>
          <p:cNvPr id="139" name="Google Shape;139;p16"/>
          <p:cNvSpPr txBox="1"/>
          <p:nvPr/>
        </p:nvSpPr>
        <p:spPr>
          <a:xfrm>
            <a:off x="8413849" y="3855690"/>
            <a:ext cx="2921049" cy="110799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E5E5E5"/>
                </a:solidFill>
                <a:latin typeface="Urbanist"/>
                <a:ea typeface="Urbanist"/>
                <a:cs typeface="Urbanist"/>
                <a:sym typeface="Urbanist"/>
              </a:rPr>
              <a:t>Predict future visitor volumes using advanced time-series forecasting  to aid operational planning.</a:t>
            </a:r>
            <a:endParaRPr dirty="0"/>
          </a:p>
        </p:txBody>
      </p:sp>
      <p:pic>
        <p:nvPicPr>
          <p:cNvPr id="140" name="Google Shape;140;p16" descr="image.png"/>
          <p:cNvPicPr preferRelativeResize="0"/>
          <p:nvPr/>
        </p:nvPicPr>
        <p:blipFill rotWithShape="1">
          <a:blip r:embed="rId8">
            <a:alphaModFix/>
          </a:blip>
          <a:srcRect/>
          <a:stretch/>
        </p:blipFill>
        <p:spPr>
          <a:xfrm>
            <a:off x="4635549" y="2752725"/>
            <a:ext cx="381000" cy="381000"/>
          </a:xfrm>
          <a:prstGeom prst="rect">
            <a:avLst/>
          </a:prstGeom>
          <a:noFill/>
          <a:ln>
            <a:noFill/>
          </a:ln>
        </p:spPr>
      </p:pic>
      <p:pic>
        <p:nvPicPr>
          <p:cNvPr id="141" name="Google Shape;141;p16" descr="image.png"/>
          <p:cNvPicPr preferRelativeResize="0"/>
          <p:nvPr/>
        </p:nvPicPr>
        <p:blipFill rotWithShape="1">
          <a:blip r:embed="rId9">
            <a:alphaModFix/>
          </a:blip>
          <a:srcRect/>
          <a:stretch/>
        </p:blipFill>
        <p:spPr>
          <a:xfrm>
            <a:off x="8413849" y="2752725"/>
            <a:ext cx="428625" cy="381000"/>
          </a:xfrm>
          <a:prstGeom prst="rect">
            <a:avLst/>
          </a:prstGeom>
          <a:noFill/>
          <a:ln>
            <a:noFill/>
          </a:ln>
        </p:spPr>
      </p:pic>
      <p:sp>
        <p:nvSpPr>
          <p:cNvPr id="142" name="Google Shape;142;p16"/>
          <p:cNvSpPr txBox="1"/>
          <p:nvPr/>
        </p:nvSpPr>
        <p:spPr>
          <a:xfrm>
            <a:off x="571500" y="571500"/>
            <a:ext cx="11601450" cy="521940"/>
          </a:xfrm>
          <a:prstGeom prst="rect">
            <a:avLst/>
          </a:prstGeom>
          <a:noFill/>
          <a:ln>
            <a:noFill/>
          </a:ln>
        </p:spPr>
        <p:txBody>
          <a:bodyPr spcFirstLastPara="1" wrap="square" lIns="0" tIns="0" rIns="0" bIns="0" anchor="t" anchorCtr="0">
            <a:spAutoFit/>
          </a:bodyPr>
          <a:lstStyle/>
          <a:p>
            <a:pPr marL="0" marR="0" lvl="0" indent="0" algn="l" rtl="0">
              <a:lnSpc>
                <a:spcPct val="109972"/>
              </a:lnSpc>
              <a:spcBef>
                <a:spcPts val="0"/>
              </a:spcBef>
              <a:spcAft>
                <a:spcPts val="0"/>
              </a:spcAft>
              <a:buNone/>
            </a:pPr>
            <a:r>
              <a:rPr lang="en-US" sz="3600" b="1" i="0" u="none" strike="noStrike" cap="none">
                <a:solidFill>
                  <a:srgbClr val="60A5FA"/>
                </a:solidFill>
                <a:latin typeface="Urbanist"/>
                <a:ea typeface="Urbanist"/>
                <a:cs typeface="Urbanist"/>
                <a:sym typeface="Urbanist"/>
              </a:rPr>
              <a:t>Project Objectives</a:t>
            </a:r>
            <a:endParaRPr/>
          </a:p>
        </p:txBody>
      </p:sp>
      <p:sp>
        <p:nvSpPr>
          <p:cNvPr id="143" name="Google Shape;143;p16"/>
          <p:cNvSpPr/>
          <p:nvPr/>
        </p:nvSpPr>
        <p:spPr>
          <a:xfrm>
            <a:off x="571500" y="1217265"/>
            <a:ext cx="11049000" cy="19050"/>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Shape 147"/>
        <p:cNvGrpSpPr/>
        <p:nvPr/>
      </p:nvGrpSpPr>
      <p:grpSpPr>
        <a:xfrm>
          <a:off x="0" y="0"/>
          <a:ext cx="0" cy="0"/>
          <a:chOff x="0" y="0"/>
          <a:chExt cx="0" cy="0"/>
        </a:xfrm>
      </p:grpSpPr>
      <p:pic>
        <p:nvPicPr>
          <p:cNvPr id="148" name="Google Shape;148;p17" descr="image.png"/>
          <p:cNvPicPr preferRelativeResize="0"/>
          <p:nvPr/>
        </p:nvPicPr>
        <p:blipFill rotWithShape="1">
          <a:blip r:embed="rId3">
            <a:alphaModFix/>
          </a:blip>
          <a:srcRect/>
          <a:stretch/>
        </p:blipFill>
        <p:spPr>
          <a:xfrm>
            <a:off x="8389" y="0"/>
            <a:ext cx="12192000" cy="6858000"/>
          </a:xfrm>
          <a:prstGeom prst="rect">
            <a:avLst/>
          </a:prstGeom>
          <a:noFill/>
          <a:ln>
            <a:noFill/>
          </a:ln>
        </p:spPr>
      </p:pic>
      <p:pic>
        <p:nvPicPr>
          <p:cNvPr id="149" name="Google Shape;149;p17" descr="image.png"/>
          <p:cNvPicPr preferRelativeResize="0"/>
          <p:nvPr/>
        </p:nvPicPr>
        <p:blipFill rotWithShape="1">
          <a:blip r:embed="rId4">
            <a:alphaModFix/>
          </a:blip>
          <a:srcRect/>
          <a:stretch/>
        </p:blipFill>
        <p:spPr>
          <a:xfrm>
            <a:off x="1548705" y="2886075"/>
            <a:ext cx="476250" cy="476250"/>
          </a:xfrm>
          <a:prstGeom prst="rect">
            <a:avLst/>
          </a:prstGeom>
          <a:noFill/>
          <a:ln>
            <a:noFill/>
          </a:ln>
        </p:spPr>
      </p:pic>
      <p:pic>
        <p:nvPicPr>
          <p:cNvPr id="150" name="Google Shape;150;p17" descr="image.png"/>
          <p:cNvPicPr preferRelativeResize="0"/>
          <p:nvPr/>
        </p:nvPicPr>
        <p:blipFill rotWithShape="1">
          <a:blip r:embed="rId5">
            <a:alphaModFix/>
          </a:blip>
          <a:srcRect/>
          <a:stretch/>
        </p:blipFill>
        <p:spPr>
          <a:xfrm>
            <a:off x="4421385" y="2886075"/>
            <a:ext cx="476250" cy="476250"/>
          </a:xfrm>
          <a:prstGeom prst="rect">
            <a:avLst/>
          </a:prstGeom>
          <a:noFill/>
          <a:ln>
            <a:noFill/>
          </a:ln>
        </p:spPr>
      </p:pic>
      <p:pic>
        <p:nvPicPr>
          <p:cNvPr id="151" name="Google Shape;151;p17" descr="image.png"/>
          <p:cNvPicPr preferRelativeResize="0"/>
          <p:nvPr/>
        </p:nvPicPr>
        <p:blipFill rotWithShape="1">
          <a:blip r:embed="rId6">
            <a:alphaModFix/>
          </a:blip>
          <a:srcRect/>
          <a:stretch/>
        </p:blipFill>
        <p:spPr>
          <a:xfrm>
            <a:off x="7294066" y="2886075"/>
            <a:ext cx="476250" cy="476250"/>
          </a:xfrm>
          <a:prstGeom prst="rect">
            <a:avLst/>
          </a:prstGeom>
          <a:noFill/>
          <a:ln>
            <a:noFill/>
          </a:ln>
        </p:spPr>
      </p:pic>
      <p:pic>
        <p:nvPicPr>
          <p:cNvPr id="152" name="Google Shape;152;p17" descr="image.png"/>
          <p:cNvPicPr preferRelativeResize="0"/>
          <p:nvPr/>
        </p:nvPicPr>
        <p:blipFill rotWithShape="1">
          <a:blip r:embed="rId7">
            <a:alphaModFix/>
          </a:blip>
          <a:srcRect/>
          <a:stretch/>
        </p:blipFill>
        <p:spPr>
          <a:xfrm>
            <a:off x="10166746" y="2886075"/>
            <a:ext cx="476250" cy="476250"/>
          </a:xfrm>
          <a:prstGeom prst="rect">
            <a:avLst/>
          </a:prstGeom>
          <a:noFill/>
          <a:ln>
            <a:noFill/>
          </a:ln>
        </p:spPr>
      </p:pic>
      <p:sp>
        <p:nvSpPr>
          <p:cNvPr id="153" name="Google Shape;153;p17"/>
          <p:cNvSpPr/>
          <p:nvPr/>
        </p:nvSpPr>
        <p:spPr>
          <a:xfrm>
            <a:off x="571201" y="4017615"/>
            <a:ext cx="11049000" cy="38100"/>
          </a:xfrm>
          <a:prstGeom prst="roundRect">
            <a:avLst>
              <a:gd name="adj" fmla="val 16667"/>
            </a:avLst>
          </a:prstGeom>
          <a:solidFill>
            <a:srgbClr val="44444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4" name="Google Shape;154;p17"/>
          <p:cNvSpPr txBox="1"/>
          <p:nvPr/>
        </p:nvSpPr>
        <p:spPr>
          <a:xfrm>
            <a:off x="510733" y="3552825"/>
            <a:ext cx="2552193" cy="29334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2100" b="1" i="0" u="none" strike="noStrike" cap="none">
                <a:solidFill>
                  <a:srgbClr val="F87171"/>
                </a:solidFill>
                <a:latin typeface="Urbanist"/>
                <a:ea typeface="Urbanist"/>
                <a:cs typeface="Urbanist"/>
                <a:sym typeface="Urbanist"/>
              </a:rPr>
              <a:t>Data Prep</a:t>
            </a:r>
            <a:endParaRPr/>
          </a:p>
        </p:txBody>
      </p:sp>
      <p:sp>
        <p:nvSpPr>
          <p:cNvPr id="155" name="Google Shape;155;p17"/>
          <p:cNvSpPr txBox="1"/>
          <p:nvPr/>
        </p:nvSpPr>
        <p:spPr>
          <a:xfrm>
            <a:off x="571500" y="4036665"/>
            <a:ext cx="2430660" cy="9144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dirty="0">
                <a:solidFill>
                  <a:srgbClr val="E5E5E5"/>
                </a:solidFill>
                <a:latin typeface="Urbanist"/>
                <a:ea typeface="Urbanist"/>
                <a:cs typeface="Urbanist"/>
                <a:sym typeface="Urbanist"/>
              </a:rPr>
              <a:t>Rigorous integration in Power BI Query Editor. Transformed wide tables to long format.</a:t>
            </a:r>
            <a:endParaRPr dirty="0"/>
          </a:p>
        </p:txBody>
      </p:sp>
      <p:sp>
        <p:nvSpPr>
          <p:cNvPr id="156" name="Google Shape;156;p17"/>
          <p:cNvSpPr txBox="1"/>
          <p:nvPr/>
        </p:nvSpPr>
        <p:spPr>
          <a:xfrm>
            <a:off x="3383413" y="3552825"/>
            <a:ext cx="2552193" cy="29334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2100" b="1" i="0" u="none" strike="noStrike" cap="none">
                <a:solidFill>
                  <a:srgbClr val="F87171"/>
                </a:solidFill>
                <a:latin typeface="Urbanist"/>
                <a:ea typeface="Urbanist"/>
                <a:cs typeface="Urbanist"/>
                <a:sym typeface="Urbanist"/>
              </a:rPr>
              <a:t>Modeling</a:t>
            </a:r>
            <a:endParaRPr/>
          </a:p>
        </p:txBody>
      </p:sp>
      <p:sp>
        <p:nvSpPr>
          <p:cNvPr id="157" name="Google Shape;157;p17"/>
          <p:cNvSpPr txBox="1"/>
          <p:nvPr/>
        </p:nvSpPr>
        <p:spPr>
          <a:xfrm>
            <a:off x="3444180" y="4036665"/>
            <a:ext cx="2430660" cy="1107996"/>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dirty="0">
                <a:solidFill>
                  <a:srgbClr val="E5E5E5"/>
                </a:solidFill>
                <a:latin typeface="Urbanist"/>
                <a:ea typeface="Urbanist"/>
                <a:cs typeface="Urbanist"/>
                <a:sym typeface="Urbanist"/>
              </a:rPr>
              <a:t>Implemented a Star Schema with one-to-many relationship.</a:t>
            </a:r>
            <a:endParaRPr dirty="0"/>
          </a:p>
        </p:txBody>
      </p:sp>
      <p:sp>
        <p:nvSpPr>
          <p:cNvPr id="158" name="Google Shape;158;p17"/>
          <p:cNvSpPr txBox="1"/>
          <p:nvPr/>
        </p:nvSpPr>
        <p:spPr>
          <a:xfrm>
            <a:off x="6256094" y="3552825"/>
            <a:ext cx="2552193" cy="29334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2100" b="1" i="0" u="none" strike="noStrike" cap="none">
                <a:solidFill>
                  <a:srgbClr val="F87171"/>
                </a:solidFill>
                <a:latin typeface="Urbanist"/>
                <a:ea typeface="Urbanist"/>
                <a:cs typeface="Urbanist"/>
                <a:sym typeface="Urbanist"/>
              </a:rPr>
              <a:t>Analytics</a:t>
            </a:r>
            <a:endParaRPr/>
          </a:p>
        </p:txBody>
      </p:sp>
      <p:sp>
        <p:nvSpPr>
          <p:cNvPr id="159" name="Google Shape;159;p17"/>
          <p:cNvSpPr txBox="1"/>
          <p:nvPr/>
        </p:nvSpPr>
        <p:spPr>
          <a:xfrm>
            <a:off x="6316860" y="4036665"/>
            <a:ext cx="2430660" cy="1107996"/>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dirty="0">
                <a:solidFill>
                  <a:srgbClr val="E5E5E5"/>
                </a:solidFill>
                <a:latin typeface="Urbanist"/>
                <a:ea typeface="Urbanist"/>
                <a:cs typeface="Urbanist"/>
                <a:sym typeface="Urbanist"/>
              </a:rPr>
              <a:t>Utilized DAX Measures for advanced calculations like YoY Growth.</a:t>
            </a:r>
            <a:endParaRPr dirty="0"/>
          </a:p>
        </p:txBody>
      </p:sp>
      <p:sp>
        <p:nvSpPr>
          <p:cNvPr id="160" name="Google Shape;160;p17"/>
          <p:cNvSpPr txBox="1"/>
          <p:nvPr/>
        </p:nvSpPr>
        <p:spPr>
          <a:xfrm>
            <a:off x="9128774" y="3552825"/>
            <a:ext cx="2552193" cy="29334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2100" b="1" i="0" u="none" strike="noStrike" cap="none">
                <a:solidFill>
                  <a:srgbClr val="F87171"/>
                </a:solidFill>
                <a:latin typeface="Urbanist"/>
                <a:ea typeface="Urbanist"/>
                <a:cs typeface="Urbanist"/>
                <a:sym typeface="Urbanist"/>
              </a:rPr>
              <a:t>Forecasting</a:t>
            </a:r>
            <a:endParaRPr/>
          </a:p>
        </p:txBody>
      </p:sp>
      <p:sp>
        <p:nvSpPr>
          <p:cNvPr id="161" name="Google Shape;161;p17"/>
          <p:cNvSpPr txBox="1"/>
          <p:nvPr/>
        </p:nvSpPr>
        <p:spPr>
          <a:xfrm>
            <a:off x="9189541" y="4036665"/>
            <a:ext cx="2430660" cy="738664"/>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dirty="0">
                <a:solidFill>
                  <a:srgbClr val="E5E5E5"/>
                </a:solidFill>
                <a:latin typeface="Urbanist"/>
                <a:ea typeface="Urbanist"/>
                <a:cs typeface="Urbanist"/>
                <a:sym typeface="Urbanist"/>
              </a:rPr>
              <a:t>Analyzed 6-month Visitor by spend per country.</a:t>
            </a:r>
            <a:endParaRPr lang="en-US" dirty="0"/>
          </a:p>
        </p:txBody>
      </p:sp>
      <p:sp>
        <p:nvSpPr>
          <p:cNvPr id="162" name="Google Shape;162;p17"/>
          <p:cNvSpPr txBox="1"/>
          <p:nvPr/>
        </p:nvSpPr>
        <p:spPr>
          <a:xfrm>
            <a:off x="571500" y="571500"/>
            <a:ext cx="11601450" cy="521940"/>
          </a:xfrm>
          <a:prstGeom prst="rect">
            <a:avLst/>
          </a:prstGeom>
          <a:noFill/>
          <a:ln>
            <a:noFill/>
          </a:ln>
        </p:spPr>
        <p:txBody>
          <a:bodyPr spcFirstLastPara="1" wrap="square" lIns="0" tIns="0" rIns="0" bIns="0" anchor="t" anchorCtr="0">
            <a:spAutoFit/>
          </a:bodyPr>
          <a:lstStyle/>
          <a:p>
            <a:pPr marL="0" marR="0" lvl="0" indent="0" algn="l" rtl="0">
              <a:lnSpc>
                <a:spcPct val="109972"/>
              </a:lnSpc>
              <a:spcBef>
                <a:spcPts val="0"/>
              </a:spcBef>
              <a:spcAft>
                <a:spcPts val="0"/>
              </a:spcAft>
              <a:buNone/>
            </a:pPr>
            <a:r>
              <a:rPr lang="en-US" sz="3600" b="1" i="0" u="none" strike="noStrike" cap="none">
                <a:solidFill>
                  <a:srgbClr val="60A5FA"/>
                </a:solidFill>
                <a:latin typeface="Urbanist"/>
                <a:ea typeface="Urbanist"/>
                <a:cs typeface="Urbanist"/>
                <a:sym typeface="Urbanist"/>
              </a:rPr>
              <a:t>Methodology &amp; Workflow</a:t>
            </a:r>
            <a:endParaRPr/>
          </a:p>
        </p:txBody>
      </p:sp>
      <p:sp>
        <p:nvSpPr>
          <p:cNvPr id="163" name="Google Shape;163;p17"/>
          <p:cNvSpPr/>
          <p:nvPr/>
        </p:nvSpPr>
        <p:spPr>
          <a:xfrm>
            <a:off x="571500" y="1217265"/>
            <a:ext cx="11049000" cy="19050"/>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Shape 128">
          <a:extLst>
            <a:ext uri="{FF2B5EF4-FFF2-40B4-BE49-F238E27FC236}">
              <a16:creationId xmlns:a16="http://schemas.microsoft.com/office/drawing/2014/main" id="{DC1C7CD8-B37A-DCF8-3BA1-A8D173E3B108}"/>
            </a:ext>
          </a:extLst>
        </p:cNvPr>
        <p:cNvGrpSpPr/>
        <p:nvPr/>
      </p:nvGrpSpPr>
      <p:grpSpPr>
        <a:xfrm>
          <a:off x="0" y="0"/>
          <a:ext cx="0" cy="0"/>
          <a:chOff x="0" y="0"/>
          <a:chExt cx="0" cy="0"/>
        </a:xfrm>
      </p:grpSpPr>
      <p:pic>
        <p:nvPicPr>
          <p:cNvPr id="129" name="Google Shape;129;p16" descr="image.png">
            <a:extLst>
              <a:ext uri="{FF2B5EF4-FFF2-40B4-BE49-F238E27FC236}">
                <a16:creationId xmlns:a16="http://schemas.microsoft.com/office/drawing/2014/main" id="{EAB623D9-9AD4-E8E6-3FF9-49F65E99CA5F}"/>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30" name="Google Shape;130;p16" descr="image.png">
            <a:extLst>
              <a:ext uri="{FF2B5EF4-FFF2-40B4-BE49-F238E27FC236}">
                <a16:creationId xmlns:a16="http://schemas.microsoft.com/office/drawing/2014/main" id="{1819C96E-B80A-C6D2-CD92-5F5B4D973026}"/>
              </a:ext>
            </a:extLst>
          </p:cNvPr>
          <p:cNvPicPr preferRelativeResize="0"/>
          <p:nvPr/>
        </p:nvPicPr>
        <p:blipFill rotWithShape="1">
          <a:blip r:embed="rId4">
            <a:alphaModFix/>
          </a:blip>
          <a:srcRect/>
          <a:stretch/>
        </p:blipFill>
        <p:spPr>
          <a:xfrm>
            <a:off x="571353" y="1629742"/>
            <a:ext cx="3206800" cy="2411481"/>
          </a:xfrm>
          <a:prstGeom prst="rect">
            <a:avLst/>
          </a:prstGeom>
          <a:noFill/>
          <a:ln>
            <a:noFill/>
          </a:ln>
        </p:spPr>
      </p:pic>
      <p:pic>
        <p:nvPicPr>
          <p:cNvPr id="131" name="Google Shape;131;p16" descr="image.png">
            <a:extLst>
              <a:ext uri="{FF2B5EF4-FFF2-40B4-BE49-F238E27FC236}">
                <a16:creationId xmlns:a16="http://schemas.microsoft.com/office/drawing/2014/main" id="{DB067418-D60F-2BCA-E8D3-25C3422D04D0}"/>
              </a:ext>
            </a:extLst>
          </p:cNvPr>
          <p:cNvPicPr preferRelativeResize="0"/>
          <p:nvPr/>
        </p:nvPicPr>
        <p:blipFill rotWithShape="1">
          <a:blip r:embed="rId5">
            <a:alphaModFix/>
          </a:blip>
          <a:srcRect/>
          <a:stretch/>
        </p:blipFill>
        <p:spPr>
          <a:xfrm>
            <a:off x="4383024" y="1654726"/>
            <a:ext cx="3206800" cy="2392431"/>
          </a:xfrm>
          <a:prstGeom prst="rect">
            <a:avLst/>
          </a:prstGeom>
          <a:noFill/>
          <a:ln>
            <a:noFill/>
          </a:ln>
        </p:spPr>
      </p:pic>
      <p:pic>
        <p:nvPicPr>
          <p:cNvPr id="132" name="Google Shape;132;p16" descr="image.png">
            <a:extLst>
              <a:ext uri="{FF2B5EF4-FFF2-40B4-BE49-F238E27FC236}">
                <a16:creationId xmlns:a16="http://schemas.microsoft.com/office/drawing/2014/main" id="{8E3CAD97-1392-706F-8F8D-935656F0E0A8}"/>
              </a:ext>
            </a:extLst>
          </p:cNvPr>
          <p:cNvPicPr preferRelativeResize="0"/>
          <p:nvPr/>
        </p:nvPicPr>
        <p:blipFill rotWithShape="1">
          <a:blip r:embed="rId6">
            <a:alphaModFix/>
          </a:blip>
          <a:srcRect/>
          <a:stretch/>
        </p:blipFill>
        <p:spPr>
          <a:xfrm>
            <a:off x="8194696" y="1654726"/>
            <a:ext cx="3206800" cy="2392431"/>
          </a:xfrm>
          <a:prstGeom prst="rect">
            <a:avLst/>
          </a:prstGeom>
          <a:noFill/>
          <a:ln>
            <a:noFill/>
          </a:ln>
        </p:spPr>
      </p:pic>
      <p:pic>
        <p:nvPicPr>
          <p:cNvPr id="133" name="Google Shape;133;p16" descr="image.png">
            <a:extLst>
              <a:ext uri="{FF2B5EF4-FFF2-40B4-BE49-F238E27FC236}">
                <a16:creationId xmlns:a16="http://schemas.microsoft.com/office/drawing/2014/main" id="{482F1F77-4461-0D6F-73B8-8E4FE0D3A127}"/>
              </a:ext>
            </a:extLst>
          </p:cNvPr>
          <p:cNvPicPr preferRelativeResize="0"/>
          <p:nvPr/>
        </p:nvPicPr>
        <p:blipFill rotWithShape="1">
          <a:blip r:embed="rId7">
            <a:alphaModFix/>
          </a:blip>
          <a:srcRect/>
          <a:stretch/>
        </p:blipFill>
        <p:spPr>
          <a:xfrm>
            <a:off x="857250" y="2724150"/>
            <a:ext cx="2921049" cy="457200"/>
          </a:xfrm>
          <a:prstGeom prst="rect">
            <a:avLst/>
          </a:prstGeom>
          <a:noFill/>
          <a:ln>
            <a:noFill/>
          </a:ln>
        </p:spPr>
      </p:pic>
      <p:sp>
        <p:nvSpPr>
          <p:cNvPr id="134" name="Google Shape;134;p16">
            <a:extLst>
              <a:ext uri="{FF2B5EF4-FFF2-40B4-BE49-F238E27FC236}">
                <a16:creationId xmlns:a16="http://schemas.microsoft.com/office/drawing/2014/main" id="{3078D7C5-96CB-B902-0E2F-11594C378F26}"/>
              </a:ext>
            </a:extLst>
          </p:cNvPr>
          <p:cNvSpPr txBox="1"/>
          <p:nvPr/>
        </p:nvSpPr>
        <p:spPr>
          <a:xfrm>
            <a:off x="784150" y="2155447"/>
            <a:ext cx="3067102" cy="369332"/>
          </a:xfrm>
          <a:prstGeom prst="rect">
            <a:avLst/>
          </a:prstGeom>
          <a:noFill/>
          <a:ln>
            <a:noFill/>
          </a:ln>
        </p:spPr>
        <p:txBody>
          <a:bodyPr spcFirstLastPara="1" wrap="square" lIns="0" tIns="0" rIns="0" bIns="0" anchor="t" anchorCtr="0">
            <a:spAutoFit/>
          </a:bodyPr>
          <a:lstStyle/>
          <a:p>
            <a:r>
              <a:rPr lang="en-US" sz="2400" dirty="0">
                <a:solidFill>
                  <a:schemeClr val="bg1"/>
                </a:solidFill>
                <a:latin typeface="Urbanist" panose="020B0604020202020204" charset="0"/>
                <a:ea typeface="Urbanist" panose="020B0604020202020204" charset="0"/>
                <a:cs typeface="Urbanist" panose="020B0604020202020204" charset="0"/>
              </a:rPr>
              <a:t>1. Power Query (ETL)</a:t>
            </a:r>
          </a:p>
        </p:txBody>
      </p:sp>
      <p:sp>
        <p:nvSpPr>
          <p:cNvPr id="135" name="Google Shape;135;p16">
            <a:extLst>
              <a:ext uri="{FF2B5EF4-FFF2-40B4-BE49-F238E27FC236}">
                <a16:creationId xmlns:a16="http://schemas.microsoft.com/office/drawing/2014/main" id="{8C677F15-55DA-52DF-2EE2-6BAE19CC0FBB}"/>
              </a:ext>
            </a:extLst>
          </p:cNvPr>
          <p:cNvSpPr txBox="1"/>
          <p:nvPr/>
        </p:nvSpPr>
        <p:spPr>
          <a:xfrm>
            <a:off x="784150" y="2639287"/>
            <a:ext cx="2921049" cy="923330"/>
          </a:xfrm>
          <a:prstGeom prst="rect">
            <a:avLst/>
          </a:prstGeom>
          <a:noFill/>
          <a:ln>
            <a:noFill/>
          </a:ln>
        </p:spPr>
        <p:txBody>
          <a:bodyPr spcFirstLastPara="1" wrap="square" lIns="0" tIns="0" rIns="0" bIns="0" anchor="t" anchorCtr="0">
            <a:spAutoFit/>
          </a:bodyPr>
          <a:lstStyle/>
          <a:p>
            <a:r>
              <a:rPr lang="en-US" sz="1500" dirty="0">
                <a:solidFill>
                  <a:schemeClr val="bg1"/>
                </a:solidFill>
                <a:latin typeface="Urbanist" panose="020B0604020202020204" charset="0"/>
                <a:ea typeface="Urbanist" panose="020B0604020202020204" charset="0"/>
                <a:cs typeface="Urbanist" panose="020B0604020202020204" charset="0"/>
              </a:rPr>
              <a:t>Cleaned raw datasets</a:t>
            </a:r>
          </a:p>
          <a:p>
            <a:r>
              <a:rPr lang="en-US" sz="1500" dirty="0">
                <a:solidFill>
                  <a:schemeClr val="bg1"/>
                </a:solidFill>
                <a:latin typeface="Urbanist" panose="020B0604020202020204" charset="0"/>
                <a:ea typeface="Urbanist" panose="020B0604020202020204" charset="0"/>
                <a:cs typeface="Urbanist" panose="020B0604020202020204" charset="0"/>
              </a:rPr>
              <a:t>Converted wide tables to long format</a:t>
            </a:r>
          </a:p>
          <a:p>
            <a:r>
              <a:rPr lang="en-US" sz="1500" dirty="0">
                <a:solidFill>
                  <a:schemeClr val="bg1"/>
                </a:solidFill>
                <a:latin typeface="Urbanist" panose="020B0604020202020204" charset="0"/>
                <a:ea typeface="Urbanist" panose="020B0604020202020204" charset="0"/>
                <a:cs typeface="Urbanist" panose="020B0604020202020204" charset="0"/>
              </a:rPr>
              <a:t>Removed duplicates from data</a:t>
            </a:r>
          </a:p>
        </p:txBody>
      </p:sp>
      <p:sp>
        <p:nvSpPr>
          <p:cNvPr id="136" name="Google Shape;136;p16">
            <a:extLst>
              <a:ext uri="{FF2B5EF4-FFF2-40B4-BE49-F238E27FC236}">
                <a16:creationId xmlns:a16="http://schemas.microsoft.com/office/drawing/2014/main" id="{286E84D4-3A19-935C-1388-F603B9056A58}"/>
              </a:ext>
            </a:extLst>
          </p:cNvPr>
          <p:cNvSpPr txBox="1"/>
          <p:nvPr/>
        </p:nvSpPr>
        <p:spPr>
          <a:xfrm>
            <a:off x="4668775" y="2163710"/>
            <a:ext cx="3067102" cy="369332"/>
          </a:xfrm>
          <a:prstGeom prst="rect">
            <a:avLst/>
          </a:prstGeom>
          <a:noFill/>
          <a:ln>
            <a:noFill/>
          </a:ln>
        </p:spPr>
        <p:txBody>
          <a:bodyPr spcFirstLastPara="1" wrap="square" lIns="0" tIns="0" rIns="0" bIns="0" anchor="t" anchorCtr="0">
            <a:spAutoFit/>
          </a:bodyPr>
          <a:lstStyle/>
          <a:p>
            <a:r>
              <a:rPr lang="en-US" sz="2400" dirty="0">
                <a:solidFill>
                  <a:schemeClr val="bg1"/>
                </a:solidFill>
                <a:latin typeface="Urbanist" panose="020B0604020202020204" charset="0"/>
                <a:ea typeface="Urbanist" panose="020B0604020202020204" charset="0"/>
                <a:cs typeface="Urbanist" panose="020B0604020202020204" charset="0"/>
              </a:rPr>
              <a:t>2. DAX Measures </a:t>
            </a:r>
          </a:p>
        </p:txBody>
      </p:sp>
      <p:sp>
        <p:nvSpPr>
          <p:cNvPr id="137" name="Google Shape;137;p16">
            <a:extLst>
              <a:ext uri="{FF2B5EF4-FFF2-40B4-BE49-F238E27FC236}">
                <a16:creationId xmlns:a16="http://schemas.microsoft.com/office/drawing/2014/main" id="{66519C65-F17C-0876-8F88-2A5E5510EE7E}"/>
              </a:ext>
            </a:extLst>
          </p:cNvPr>
          <p:cNvSpPr txBox="1"/>
          <p:nvPr/>
        </p:nvSpPr>
        <p:spPr>
          <a:xfrm>
            <a:off x="4668775" y="2639287"/>
            <a:ext cx="2921049" cy="923330"/>
          </a:xfrm>
          <a:prstGeom prst="rect">
            <a:avLst/>
          </a:prstGeom>
          <a:noFill/>
          <a:ln>
            <a:noFill/>
          </a:ln>
        </p:spPr>
        <p:txBody>
          <a:bodyPr spcFirstLastPara="1" wrap="square" lIns="0" tIns="0" rIns="0" bIns="0" anchor="t" anchorCtr="0">
            <a:spAutoFit/>
          </a:bodyPr>
          <a:lstStyle/>
          <a:p>
            <a:r>
              <a:rPr lang="en-US" sz="1500" dirty="0">
                <a:solidFill>
                  <a:schemeClr val="bg1"/>
                </a:solidFill>
                <a:latin typeface="Urbanist" panose="020B0604020202020204" charset="0"/>
                <a:ea typeface="Urbanist" panose="020B0604020202020204" charset="0"/>
                <a:cs typeface="Urbanist" panose="020B0604020202020204" charset="0"/>
              </a:rPr>
              <a:t>YoY Growth %</a:t>
            </a:r>
          </a:p>
          <a:p>
            <a:r>
              <a:rPr lang="en-US" sz="1500" dirty="0">
                <a:solidFill>
                  <a:schemeClr val="bg1"/>
                </a:solidFill>
                <a:latin typeface="Urbanist" panose="020B0604020202020204" charset="0"/>
                <a:ea typeface="Urbanist" panose="020B0604020202020204" charset="0"/>
                <a:cs typeface="Urbanist" panose="020B0604020202020204" charset="0"/>
              </a:rPr>
              <a:t>Forecast Accuracy %</a:t>
            </a:r>
          </a:p>
          <a:p>
            <a:r>
              <a:rPr lang="en-US" sz="1500" dirty="0">
                <a:solidFill>
                  <a:schemeClr val="bg1"/>
                </a:solidFill>
                <a:latin typeface="Urbanist" panose="020B0604020202020204" charset="0"/>
                <a:ea typeface="Urbanist" panose="020B0604020202020204" charset="0"/>
                <a:cs typeface="Urbanist" panose="020B0604020202020204" charset="0"/>
              </a:rPr>
              <a:t>Spend per Visitor</a:t>
            </a:r>
          </a:p>
          <a:p>
            <a:r>
              <a:rPr lang="en-US" sz="1500" dirty="0">
                <a:solidFill>
                  <a:schemeClr val="bg1"/>
                </a:solidFill>
                <a:latin typeface="Urbanist" panose="020B0604020202020204" charset="0"/>
                <a:ea typeface="Urbanist" panose="020B0604020202020204" charset="0"/>
                <a:cs typeface="Urbanist" panose="020B0604020202020204" charset="0"/>
              </a:rPr>
              <a:t>Seasonality Index</a:t>
            </a:r>
            <a:endParaRPr dirty="0"/>
          </a:p>
        </p:txBody>
      </p:sp>
      <p:sp>
        <p:nvSpPr>
          <p:cNvPr id="138" name="Google Shape;138;p16">
            <a:extLst>
              <a:ext uri="{FF2B5EF4-FFF2-40B4-BE49-F238E27FC236}">
                <a16:creationId xmlns:a16="http://schemas.microsoft.com/office/drawing/2014/main" id="{DCC63D53-55FA-EB25-772E-6A0D00F41781}"/>
              </a:ext>
            </a:extLst>
          </p:cNvPr>
          <p:cNvSpPr txBox="1"/>
          <p:nvPr/>
        </p:nvSpPr>
        <p:spPr>
          <a:xfrm>
            <a:off x="8340749" y="2155447"/>
            <a:ext cx="3067102" cy="369332"/>
          </a:xfrm>
          <a:prstGeom prst="rect">
            <a:avLst/>
          </a:prstGeom>
          <a:noFill/>
          <a:ln>
            <a:noFill/>
          </a:ln>
        </p:spPr>
        <p:txBody>
          <a:bodyPr spcFirstLastPara="1" wrap="square" lIns="0" tIns="0" rIns="0" bIns="0" anchor="t" anchorCtr="0">
            <a:spAutoFit/>
          </a:bodyPr>
          <a:lstStyle/>
          <a:p>
            <a:r>
              <a:rPr lang="en-US" sz="2400" dirty="0">
                <a:solidFill>
                  <a:schemeClr val="bg1"/>
                </a:solidFill>
                <a:latin typeface="Urbanist" panose="020B0604020202020204" charset="0"/>
                <a:ea typeface="Urbanist" panose="020B0604020202020204" charset="0"/>
                <a:cs typeface="Urbanist" panose="020B0604020202020204" charset="0"/>
              </a:rPr>
              <a:t>3. Data Modeling</a:t>
            </a:r>
          </a:p>
        </p:txBody>
      </p:sp>
      <p:sp>
        <p:nvSpPr>
          <p:cNvPr id="139" name="Google Shape;139;p16">
            <a:extLst>
              <a:ext uri="{FF2B5EF4-FFF2-40B4-BE49-F238E27FC236}">
                <a16:creationId xmlns:a16="http://schemas.microsoft.com/office/drawing/2014/main" id="{DA0879A5-3563-38F6-4694-6438EE4BD7C2}"/>
              </a:ext>
            </a:extLst>
          </p:cNvPr>
          <p:cNvSpPr txBox="1"/>
          <p:nvPr/>
        </p:nvSpPr>
        <p:spPr>
          <a:xfrm>
            <a:off x="8413701" y="2639287"/>
            <a:ext cx="2921049" cy="1154162"/>
          </a:xfrm>
          <a:prstGeom prst="rect">
            <a:avLst/>
          </a:prstGeom>
          <a:noFill/>
          <a:ln>
            <a:noFill/>
          </a:ln>
        </p:spPr>
        <p:txBody>
          <a:bodyPr spcFirstLastPara="1" wrap="square" lIns="0" tIns="0" rIns="0" bIns="0" anchor="t" anchorCtr="0">
            <a:spAutoFit/>
          </a:bodyPr>
          <a:lstStyle/>
          <a:p>
            <a:r>
              <a:rPr lang="en-US" sz="1500" dirty="0">
                <a:solidFill>
                  <a:schemeClr val="bg1"/>
                </a:solidFill>
                <a:latin typeface="Urbanist" panose="020B0604020202020204" charset="0"/>
                <a:ea typeface="Urbanist" panose="020B0604020202020204" charset="0"/>
                <a:cs typeface="Urbanist" panose="020B0604020202020204" charset="0"/>
              </a:rPr>
              <a:t>Designed complete Star Schema</a:t>
            </a:r>
          </a:p>
          <a:p>
            <a:r>
              <a:rPr lang="en-US" sz="1500" dirty="0">
                <a:solidFill>
                  <a:schemeClr val="bg1"/>
                </a:solidFill>
                <a:latin typeface="Urbanist" panose="020B0604020202020204" charset="0"/>
                <a:ea typeface="Urbanist" panose="020B0604020202020204" charset="0"/>
                <a:cs typeface="Urbanist" panose="020B0604020202020204" charset="0"/>
              </a:rPr>
              <a:t>Connected Arrivals, Spend, Countries, and Date tables</a:t>
            </a:r>
          </a:p>
          <a:p>
            <a:r>
              <a:rPr lang="en-US" sz="1500" dirty="0">
                <a:solidFill>
                  <a:schemeClr val="bg1"/>
                </a:solidFill>
                <a:latin typeface="Urbanist" panose="020B0604020202020204" charset="0"/>
                <a:ea typeface="Urbanist" panose="020B0604020202020204" charset="0"/>
                <a:cs typeface="Urbanist" panose="020B0604020202020204" charset="0"/>
              </a:rPr>
              <a:t>Created drill-through logic for country-level analysis</a:t>
            </a:r>
          </a:p>
        </p:txBody>
      </p:sp>
      <p:sp>
        <p:nvSpPr>
          <p:cNvPr id="142" name="Google Shape;142;p16">
            <a:extLst>
              <a:ext uri="{FF2B5EF4-FFF2-40B4-BE49-F238E27FC236}">
                <a16:creationId xmlns:a16="http://schemas.microsoft.com/office/drawing/2014/main" id="{3EC0ABDE-65AD-37B1-D9B8-970507CAE9D0}"/>
              </a:ext>
            </a:extLst>
          </p:cNvPr>
          <p:cNvSpPr txBox="1"/>
          <p:nvPr/>
        </p:nvSpPr>
        <p:spPr>
          <a:xfrm>
            <a:off x="571500" y="571500"/>
            <a:ext cx="11601450" cy="609398"/>
          </a:xfrm>
          <a:prstGeom prst="rect">
            <a:avLst/>
          </a:prstGeom>
          <a:noFill/>
          <a:ln>
            <a:noFill/>
          </a:ln>
        </p:spPr>
        <p:txBody>
          <a:bodyPr spcFirstLastPara="1" wrap="square" lIns="0" tIns="0" rIns="0" bIns="0" anchor="t" anchorCtr="0">
            <a:spAutoFit/>
          </a:bodyPr>
          <a:lstStyle/>
          <a:p>
            <a:pPr lvl="0">
              <a:lnSpc>
                <a:spcPct val="109972"/>
              </a:lnSpc>
            </a:pPr>
            <a:r>
              <a:rPr lang="en-US" sz="3600" b="1" dirty="0">
                <a:solidFill>
                  <a:srgbClr val="60A5FA"/>
                </a:solidFill>
                <a:latin typeface="Urbanist"/>
                <a:ea typeface="Urbanist"/>
                <a:cs typeface="Urbanist"/>
                <a:sym typeface="Urbanist"/>
              </a:rPr>
              <a:t>Performed Operations in the Dashboard</a:t>
            </a:r>
            <a:endParaRPr lang="en-US" sz="3600" dirty="0"/>
          </a:p>
        </p:txBody>
      </p:sp>
      <p:sp>
        <p:nvSpPr>
          <p:cNvPr id="143" name="Google Shape;143;p16">
            <a:extLst>
              <a:ext uri="{FF2B5EF4-FFF2-40B4-BE49-F238E27FC236}">
                <a16:creationId xmlns:a16="http://schemas.microsoft.com/office/drawing/2014/main" id="{1CF40BBA-9DF5-224D-3903-52031C138780}"/>
              </a:ext>
            </a:extLst>
          </p:cNvPr>
          <p:cNvSpPr/>
          <p:nvPr/>
        </p:nvSpPr>
        <p:spPr>
          <a:xfrm>
            <a:off x="571500" y="1217265"/>
            <a:ext cx="11049000" cy="19050"/>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5" name="Google Shape;130;p16" descr="image.png">
            <a:extLst>
              <a:ext uri="{FF2B5EF4-FFF2-40B4-BE49-F238E27FC236}">
                <a16:creationId xmlns:a16="http://schemas.microsoft.com/office/drawing/2014/main" id="{B6372137-1221-6291-9736-813DDD87D84B}"/>
              </a:ext>
            </a:extLst>
          </p:cNvPr>
          <p:cNvPicPr preferRelativeResize="0"/>
          <p:nvPr/>
        </p:nvPicPr>
        <p:blipFill rotWithShape="1">
          <a:blip r:embed="rId4">
            <a:alphaModFix/>
          </a:blip>
          <a:srcRect/>
          <a:stretch/>
        </p:blipFill>
        <p:spPr>
          <a:xfrm>
            <a:off x="4170301" y="4243871"/>
            <a:ext cx="3206800" cy="2411481"/>
          </a:xfrm>
          <a:prstGeom prst="rect">
            <a:avLst/>
          </a:prstGeom>
          <a:noFill/>
          <a:ln>
            <a:noFill/>
          </a:ln>
        </p:spPr>
      </p:pic>
      <p:sp>
        <p:nvSpPr>
          <p:cNvPr id="7" name="TextBox 6">
            <a:extLst>
              <a:ext uri="{FF2B5EF4-FFF2-40B4-BE49-F238E27FC236}">
                <a16:creationId xmlns:a16="http://schemas.microsoft.com/office/drawing/2014/main" id="{A6B36A0A-B7DF-85EF-6961-BB049C5F255B}"/>
              </a:ext>
            </a:extLst>
          </p:cNvPr>
          <p:cNvSpPr txBox="1"/>
          <p:nvPr/>
        </p:nvSpPr>
        <p:spPr>
          <a:xfrm>
            <a:off x="4329800" y="4703824"/>
            <a:ext cx="2834398" cy="461665"/>
          </a:xfrm>
          <a:prstGeom prst="rect">
            <a:avLst/>
          </a:prstGeom>
          <a:noFill/>
        </p:spPr>
        <p:txBody>
          <a:bodyPr wrap="square">
            <a:spAutoFit/>
          </a:bodyPr>
          <a:lstStyle/>
          <a:p>
            <a:r>
              <a:rPr lang="en-US" sz="2400" dirty="0">
                <a:solidFill>
                  <a:schemeClr val="bg1"/>
                </a:solidFill>
                <a:latin typeface="Urbanist" panose="020B0604020202020204" charset="0"/>
                <a:ea typeface="Urbanist" panose="020B0604020202020204" charset="0"/>
                <a:cs typeface="Urbanist" panose="020B0604020202020204" charset="0"/>
              </a:rPr>
              <a:t>4. Forecasting Logic</a:t>
            </a:r>
          </a:p>
        </p:txBody>
      </p:sp>
      <p:sp>
        <p:nvSpPr>
          <p:cNvPr id="9" name="TextBox 8">
            <a:extLst>
              <a:ext uri="{FF2B5EF4-FFF2-40B4-BE49-F238E27FC236}">
                <a16:creationId xmlns:a16="http://schemas.microsoft.com/office/drawing/2014/main" id="{907BCD54-D48D-1327-0624-B11060F53FBB}"/>
              </a:ext>
            </a:extLst>
          </p:cNvPr>
          <p:cNvSpPr txBox="1"/>
          <p:nvPr/>
        </p:nvSpPr>
        <p:spPr>
          <a:xfrm>
            <a:off x="4408191" y="5270837"/>
            <a:ext cx="2756007" cy="784830"/>
          </a:xfrm>
          <a:prstGeom prst="rect">
            <a:avLst/>
          </a:prstGeom>
          <a:noFill/>
        </p:spPr>
        <p:txBody>
          <a:bodyPr wrap="square">
            <a:spAutoFit/>
          </a:bodyPr>
          <a:lstStyle/>
          <a:p>
            <a:r>
              <a:rPr lang="en-US" sz="1500" dirty="0">
                <a:solidFill>
                  <a:schemeClr val="bg1"/>
                </a:solidFill>
                <a:latin typeface="Urbanist" panose="020B0604020202020204" charset="0"/>
                <a:ea typeface="Urbanist" panose="020B0604020202020204" charset="0"/>
                <a:cs typeface="Urbanist" panose="020B0604020202020204" charset="0"/>
              </a:rPr>
              <a:t>Built a 6-month forecast</a:t>
            </a:r>
          </a:p>
          <a:p>
            <a:r>
              <a:rPr lang="en-US" sz="1500" dirty="0">
                <a:solidFill>
                  <a:schemeClr val="bg1"/>
                </a:solidFill>
                <a:latin typeface="Urbanist" panose="020B0604020202020204" charset="0"/>
                <a:ea typeface="Urbanist" panose="020B0604020202020204" charset="0"/>
                <a:cs typeface="Urbanist" panose="020B0604020202020204" charset="0"/>
              </a:rPr>
              <a:t>Created dynamic forecast charts with slicers</a:t>
            </a:r>
          </a:p>
        </p:txBody>
      </p:sp>
    </p:spTree>
    <p:extLst>
      <p:ext uri="{BB962C8B-B14F-4D97-AF65-F5344CB8AC3E}">
        <p14:creationId xmlns:p14="http://schemas.microsoft.com/office/powerpoint/2010/main" val="380608137"/>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Shape 216"/>
        <p:cNvGrpSpPr/>
        <p:nvPr/>
      </p:nvGrpSpPr>
      <p:grpSpPr>
        <a:xfrm>
          <a:off x="0" y="0"/>
          <a:ext cx="0" cy="0"/>
          <a:chOff x="0" y="0"/>
          <a:chExt cx="0" cy="0"/>
        </a:xfrm>
      </p:grpSpPr>
      <p:pic>
        <p:nvPicPr>
          <p:cNvPr id="217" name="Google Shape;217;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20" name="Google Shape;220;p21"/>
          <p:cNvSpPr txBox="1"/>
          <p:nvPr/>
        </p:nvSpPr>
        <p:spPr>
          <a:xfrm>
            <a:off x="591139" y="2557205"/>
            <a:ext cx="1783080" cy="236988"/>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b="1" i="0" u="none" strike="noStrike" cap="none" dirty="0">
                <a:solidFill>
                  <a:srgbClr val="F87171"/>
                </a:solidFill>
                <a:latin typeface="Urbanist"/>
                <a:ea typeface="Urbanist"/>
                <a:cs typeface="Urbanist"/>
                <a:sym typeface="Urbanist"/>
              </a:rPr>
              <a:t>Forecast Accuracy %</a:t>
            </a:r>
            <a:endParaRPr dirty="0"/>
          </a:p>
        </p:txBody>
      </p:sp>
      <p:sp>
        <p:nvSpPr>
          <p:cNvPr id="222" name="Google Shape;222;p21"/>
          <p:cNvSpPr txBox="1"/>
          <p:nvPr/>
        </p:nvSpPr>
        <p:spPr>
          <a:xfrm>
            <a:off x="6372225" y="2747950"/>
            <a:ext cx="2068830" cy="236988"/>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b="1" i="0" u="none" strike="noStrike" cap="none" dirty="0">
                <a:solidFill>
                  <a:srgbClr val="F87171"/>
                </a:solidFill>
                <a:latin typeface="Urbanist"/>
                <a:ea typeface="Urbanist"/>
                <a:cs typeface="Urbanist"/>
                <a:sym typeface="Urbanist"/>
              </a:rPr>
              <a:t>YoY Growth Calculation</a:t>
            </a:r>
            <a:endParaRPr dirty="0"/>
          </a:p>
        </p:txBody>
      </p:sp>
      <p:sp>
        <p:nvSpPr>
          <p:cNvPr id="224" name="Google Shape;224;p21"/>
          <p:cNvSpPr txBox="1"/>
          <p:nvPr/>
        </p:nvSpPr>
        <p:spPr>
          <a:xfrm>
            <a:off x="571500" y="571500"/>
            <a:ext cx="11601450" cy="521940"/>
          </a:xfrm>
          <a:prstGeom prst="rect">
            <a:avLst/>
          </a:prstGeom>
          <a:noFill/>
          <a:ln>
            <a:noFill/>
          </a:ln>
        </p:spPr>
        <p:txBody>
          <a:bodyPr spcFirstLastPara="1" wrap="square" lIns="0" tIns="0" rIns="0" bIns="0" anchor="t" anchorCtr="0">
            <a:spAutoFit/>
          </a:bodyPr>
          <a:lstStyle/>
          <a:p>
            <a:pPr marL="0" marR="0" lvl="0" indent="0" algn="l" rtl="0">
              <a:lnSpc>
                <a:spcPct val="109972"/>
              </a:lnSpc>
              <a:spcBef>
                <a:spcPts val="0"/>
              </a:spcBef>
              <a:spcAft>
                <a:spcPts val="0"/>
              </a:spcAft>
              <a:buNone/>
            </a:pPr>
            <a:r>
              <a:rPr lang="en-US" sz="3600" b="1" i="0" u="none" strike="noStrike" cap="none">
                <a:solidFill>
                  <a:srgbClr val="60A5FA"/>
                </a:solidFill>
                <a:latin typeface="Urbanist"/>
                <a:ea typeface="Urbanist"/>
                <a:cs typeface="Urbanist"/>
                <a:sym typeface="Urbanist"/>
              </a:rPr>
              <a:t>Advanced DAX Measures</a:t>
            </a:r>
            <a:endParaRPr/>
          </a:p>
        </p:txBody>
      </p:sp>
      <p:sp>
        <p:nvSpPr>
          <p:cNvPr id="225" name="Google Shape;225;p21"/>
          <p:cNvSpPr/>
          <p:nvPr/>
        </p:nvSpPr>
        <p:spPr>
          <a:xfrm>
            <a:off x="571500" y="1217265"/>
            <a:ext cx="11049000" cy="19050"/>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7FD8FF11-88DB-18CF-EAF8-4908D57A59EF}"/>
              </a:ext>
            </a:extLst>
          </p:cNvPr>
          <p:cNvPicPr>
            <a:picLocks noChangeAspect="1"/>
          </p:cNvPicPr>
          <p:nvPr/>
        </p:nvPicPr>
        <p:blipFill>
          <a:blip r:embed="rId4"/>
          <a:stretch>
            <a:fillRect/>
          </a:stretch>
        </p:blipFill>
        <p:spPr>
          <a:xfrm>
            <a:off x="591139" y="2878165"/>
            <a:ext cx="5286375" cy="1162050"/>
          </a:xfrm>
          <a:prstGeom prst="rect">
            <a:avLst/>
          </a:prstGeom>
        </p:spPr>
      </p:pic>
      <p:pic>
        <p:nvPicPr>
          <p:cNvPr id="5" name="Picture 4">
            <a:extLst>
              <a:ext uri="{FF2B5EF4-FFF2-40B4-BE49-F238E27FC236}">
                <a16:creationId xmlns:a16="http://schemas.microsoft.com/office/drawing/2014/main" id="{254FC0E4-F815-9A52-8BF0-270E689E7F73}"/>
              </a:ext>
            </a:extLst>
          </p:cNvPr>
          <p:cNvPicPr>
            <a:picLocks noChangeAspect="1"/>
          </p:cNvPicPr>
          <p:nvPr/>
        </p:nvPicPr>
        <p:blipFill>
          <a:blip r:embed="rId5"/>
          <a:stretch>
            <a:fillRect/>
          </a:stretch>
        </p:blipFill>
        <p:spPr>
          <a:xfrm>
            <a:off x="6372225" y="3049217"/>
            <a:ext cx="5300632" cy="971889"/>
          </a:xfrm>
          <a:prstGeom prst="rect">
            <a:avLst/>
          </a:prstGeom>
        </p:spPr>
      </p:pic>
      <p:sp>
        <p:nvSpPr>
          <p:cNvPr id="7" name="TextBox 6">
            <a:extLst>
              <a:ext uri="{FF2B5EF4-FFF2-40B4-BE49-F238E27FC236}">
                <a16:creationId xmlns:a16="http://schemas.microsoft.com/office/drawing/2014/main" id="{004515E9-CC03-9E0A-235E-11DEE1787F34}"/>
              </a:ext>
            </a:extLst>
          </p:cNvPr>
          <p:cNvSpPr txBox="1"/>
          <p:nvPr/>
        </p:nvSpPr>
        <p:spPr>
          <a:xfrm>
            <a:off x="571500" y="1387388"/>
            <a:ext cx="1257300" cy="314125"/>
          </a:xfrm>
          <a:prstGeom prst="rect">
            <a:avLst/>
          </a:prstGeom>
          <a:noFill/>
        </p:spPr>
        <p:txBody>
          <a:bodyPr wrap="square">
            <a:spAutoFit/>
          </a:bodyPr>
          <a:lstStyle/>
          <a:p>
            <a:pPr marL="0" marR="0" lvl="0" indent="0" algn="l" rtl="0">
              <a:lnSpc>
                <a:spcPct val="110000"/>
              </a:lnSpc>
              <a:spcBef>
                <a:spcPts val="0"/>
              </a:spcBef>
              <a:spcAft>
                <a:spcPts val="0"/>
              </a:spcAft>
              <a:buNone/>
            </a:pPr>
            <a:r>
              <a:rPr lang="en-US" b="1" dirty="0">
                <a:solidFill>
                  <a:srgbClr val="F87171"/>
                </a:solidFill>
                <a:latin typeface="Urbanist"/>
                <a:ea typeface="Urbanist"/>
                <a:cs typeface="Urbanist"/>
                <a:sym typeface="Urbanist"/>
              </a:rPr>
              <a:t>Total Visitor</a:t>
            </a:r>
            <a:endParaRPr lang="en-US" dirty="0"/>
          </a:p>
        </p:txBody>
      </p:sp>
      <p:sp>
        <p:nvSpPr>
          <p:cNvPr id="11" name="TextBox 10">
            <a:extLst>
              <a:ext uri="{FF2B5EF4-FFF2-40B4-BE49-F238E27FC236}">
                <a16:creationId xmlns:a16="http://schemas.microsoft.com/office/drawing/2014/main" id="{A1FAD5F3-727A-A498-75F8-23A789BCC74C}"/>
              </a:ext>
            </a:extLst>
          </p:cNvPr>
          <p:cNvSpPr txBox="1"/>
          <p:nvPr/>
        </p:nvSpPr>
        <p:spPr>
          <a:xfrm>
            <a:off x="6372225" y="4226144"/>
            <a:ext cx="1492250" cy="314125"/>
          </a:xfrm>
          <a:prstGeom prst="rect">
            <a:avLst/>
          </a:prstGeom>
          <a:noFill/>
        </p:spPr>
        <p:txBody>
          <a:bodyPr wrap="square">
            <a:spAutoFit/>
          </a:bodyPr>
          <a:lstStyle/>
          <a:p>
            <a:pPr marL="0" marR="0" lvl="0" indent="0" algn="l" rtl="0">
              <a:lnSpc>
                <a:spcPct val="110000"/>
              </a:lnSpc>
              <a:spcBef>
                <a:spcPts val="0"/>
              </a:spcBef>
              <a:spcAft>
                <a:spcPts val="0"/>
              </a:spcAft>
              <a:buNone/>
            </a:pPr>
            <a:r>
              <a:rPr lang="en-US" b="1" dirty="0">
                <a:solidFill>
                  <a:srgbClr val="F87171"/>
                </a:solidFill>
                <a:latin typeface="Urbanist"/>
                <a:ea typeface="Urbanist"/>
                <a:cs typeface="Urbanist"/>
                <a:sym typeface="Urbanist"/>
              </a:rPr>
              <a:t>Spend / Visitor</a:t>
            </a:r>
            <a:endParaRPr lang="en-US" dirty="0"/>
          </a:p>
        </p:txBody>
      </p:sp>
      <p:sp>
        <p:nvSpPr>
          <p:cNvPr id="13" name="TextBox 12">
            <a:extLst>
              <a:ext uri="{FF2B5EF4-FFF2-40B4-BE49-F238E27FC236}">
                <a16:creationId xmlns:a16="http://schemas.microsoft.com/office/drawing/2014/main" id="{0B3AA317-85DD-CE33-23C8-4BC1DFD7A04C}"/>
              </a:ext>
            </a:extLst>
          </p:cNvPr>
          <p:cNvSpPr txBox="1"/>
          <p:nvPr/>
        </p:nvSpPr>
        <p:spPr>
          <a:xfrm>
            <a:off x="571500" y="4171978"/>
            <a:ext cx="5201376" cy="314125"/>
          </a:xfrm>
          <a:prstGeom prst="rect">
            <a:avLst/>
          </a:prstGeom>
          <a:noFill/>
        </p:spPr>
        <p:txBody>
          <a:bodyPr wrap="square">
            <a:spAutoFit/>
          </a:bodyPr>
          <a:lstStyle/>
          <a:p>
            <a:pPr marL="0" marR="0" lvl="0" indent="0" algn="l" rtl="0">
              <a:lnSpc>
                <a:spcPct val="110000"/>
              </a:lnSpc>
              <a:spcBef>
                <a:spcPts val="0"/>
              </a:spcBef>
              <a:spcAft>
                <a:spcPts val="0"/>
              </a:spcAft>
              <a:buNone/>
            </a:pPr>
            <a:r>
              <a:rPr lang="en-US" sz="1400" b="1" i="0" u="none" strike="noStrike" cap="none" dirty="0">
                <a:solidFill>
                  <a:srgbClr val="F87171"/>
                </a:solidFill>
                <a:latin typeface="Urbanist"/>
                <a:ea typeface="Urbanist"/>
                <a:cs typeface="Urbanist"/>
                <a:sym typeface="Urbanist"/>
              </a:rPr>
              <a:t>Forecast Visitors</a:t>
            </a:r>
            <a:endParaRPr lang="en-US" dirty="0"/>
          </a:p>
        </p:txBody>
      </p:sp>
      <p:pic>
        <p:nvPicPr>
          <p:cNvPr id="15" name="Picture 14">
            <a:extLst>
              <a:ext uri="{FF2B5EF4-FFF2-40B4-BE49-F238E27FC236}">
                <a16:creationId xmlns:a16="http://schemas.microsoft.com/office/drawing/2014/main" id="{2750C09C-A687-040E-EA11-A7661731BACD}"/>
              </a:ext>
            </a:extLst>
          </p:cNvPr>
          <p:cNvPicPr>
            <a:picLocks noChangeAspect="1"/>
          </p:cNvPicPr>
          <p:nvPr/>
        </p:nvPicPr>
        <p:blipFill>
          <a:blip r:embed="rId6"/>
          <a:stretch>
            <a:fillRect/>
          </a:stretch>
        </p:blipFill>
        <p:spPr>
          <a:xfrm>
            <a:off x="591139" y="1767395"/>
            <a:ext cx="3147060" cy="270997"/>
          </a:xfrm>
          <a:prstGeom prst="rect">
            <a:avLst/>
          </a:prstGeom>
        </p:spPr>
      </p:pic>
      <p:pic>
        <p:nvPicPr>
          <p:cNvPr id="17" name="Picture 16">
            <a:extLst>
              <a:ext uri="{FF2B5EF4-FFF2-40B4-BE49-F238E27FC236}">
                <a16:creationId xmlns:a16="http://schemas.microsoft.com/office/drawing/2014/main" id="{C08C9FFD-9973-9CA0-B994-FB03CE897D38}"/>
              </a:ext>
            </a:extLst>
          </p:cNvPr>
          <p:cNvPicPr>
            <a:picLocks noChangeAspect="1"/>
          </p:cNvPicPr>
          <p:nvPr/>
        </p:nvPicPr>
        <p:blipFill>
          <a:blip r:embed="rId7"/>
          <a:stretch>
            <a:fillRect/>
          </a:stretch>
        </p:blipFill>
        <p:spPr>
          <a:xfrm>
            <a:off x="6372225" y="4634664"/>
            <a:ext cx="4600610" cy="252193"/>
          </a:xfrm>
          <a:prstGeom prst="rect">
            <a:avLst/>
          </a:prstGeom>
        </p:spPr>
      </p:pic>
      <p:pic>
        <p:nvPicPr>
          <p:cNvPr id="19" name="Picture 18">
            <a:extLst>
              <a:ext uri="{FF2B5EF4-FFF2-40B4-BE49-F238E27FC236}">
                <a16:creationId xmlns:a16="http://schemas.microsoft.com/office/drawing/2014/main" id="{1625162F-E788-F7DF-2041-BA8165CBF5E6}"/>
              </a:ext>
            </a:extLst>
          </p:cNvPr>
          <p:cNvPicPr>
            <a:picLocks noChangeAspect="1"/>
          </p:cNvPicPr>
          <p:nvPr/>
        </p:nvPicPr>
        <p:blipFill>
          <a:blip r:embed="rId8"/>
          <a:stretch>
            <a:fillRect/>
          </a:stretch>
        </p:blipFill>
        <p:spPr>
          <a:xfrm>
            <a:off x="613999" y="4617866"/>
            <a:ext cx="5201376" cy="285790"/>
          </a:xfrm>
          <a:prstGeom prst="rect">
            <a:avLst/>
          </a:prstGeom>
        </p:spPr>
      </p:pic>
      <p:pic>
        <p:nvPicPr>
          <p:cNvPr id="21" name="Picture 20">
            <a:extLst>
              <a:ext uri="{FF2B5EF4-FFF2-40B4-BE49-F238E27FC236}">
                <a16:creationId xmlns:a16="http://schemas.microsoft.com/office/drawing/2014/main" id="{66A3F9A3-AE4C-DEB3-659B-B038328266C6}"/>
              </a:ext>
            </a:extLst>
          </p:cNvPr>
          <p:cNvPicPr>
            <a:picLocks noChangeAspect="1"/>
          </p:cNvPicPr>
          <p:nvPr/>
        </p:nvPicPr>
        <p:blipFill>
          <a:blip r:embed="rId9"/>
          <a:stretch>
            <a:fillRect/>
          </a:stretch>
        </p:blipFill>
        <p:spPr>
          <a:xfrm>
            <a:off x="571501" y="5192481"/>
            <a:ext cx="11049000" cy="963630"/>
          </a:xfrm>
          <a:prstGeom prst="rect">
            <a:avLst/>
          </a:prstGeom>
        </p:spPr>
      </p:pic>
      <p:pic>
        <p:nvPicPr>
          <p:cNvPr id="23" name="Picture 22">
            <a:extLst>
              <a:ext uri="{FF2B5EF4-FFF2-40B4-BE49-F238E27FC236}">
                <a16:creationId xmlns:a16="http://schemas.microsoft.com/office/drawing/2014/main" id="{357FE321-9C5E-AD7C-AC23-8F9EDBB64E1E}"/>
              </a:ext>
            </a:extLst>
          </p:cNvPr>
          <p:cNvPicPr>
            <a:picLocks noChangeAspect="1"/>
          </p:cNvPicPr>
          <p:nvPr/>
        </p:nvPicPr>
        <p:blipFill>
          <a:blip r:embed="rId10"/>
          <a:stretch>
            <a:fillRect/>
          </a:stretch>
        </p:blipFill>
        <p:spPr>
          <a:xfrm>
            <a:off x="6381750" y="1683713"/>
            <a:ext cx="3974121" cy="846341"/>
          </a:xfrm>
          <a:prstGeom prst="rect">
            <a:avLst/>
          </a:prstGeom>
        </p:spPr>
      </p:pic>
      <p:sp>
        <p:nvSpPr>
          <p:cNvPr id="25" name="TextBox 24">
            <a:extLst>
              <a:ext uri="{FF2B5EF4-FFF2-40B4-BE49-F238E27FC236}">
                <a16:creationId xmlns:a16="http://schemas.microsoft.com/office/drawing/2014/main" id="{10E1DD5A-3DB5-37B3-C8E4-59087813F8FD}"/>
              </a:ext>
            </a:extLst>
          </p:cNvPr>
          <p:cNvSpPr txBox="1"/>
          <p:nvPr/>
        </p:nvSpPr>
        <p:spPr>
          <a:xfrm>
            <a:off x="6381750" y="1302951"/>
            <a:ext cx="1374630" cy="314125"/>
          </a:xfrm>
          <a:prstGeom prst="rect">
            <a:avLst/>
          </a:prstGeom>
          <a:noFill/>
        </p:spPr>
        <p:txBody>
          <a:bodyPr wrap="square">
            <a:spAutoFit/>
          </a:bodyPr>
          <a:lstStyle/>
          <a:p>
            <a:pPr marL="0" marR="0" lvl="0" indent="0" algn="l" rtl="0">
              <a:lnSpc>
                <a:spcPct val="110000"/>
              </a:lnSpc>
              <a:spcBef>
                <a:spcPts val="0"/>
              </a:spcBef>
              <a:spcAft>
                <a:spcPts val="0"/>
              </a:spcAft>
              <a:buNone/>
            </a:pPr>
            <a:r>
              <a:rPr lang="en-US" b="1" dirty="0">
                <a:solidFill>
                  <a:srgbClr val="F87171"/>
                </a:solidFill>
                <a:latin typeface="Urbanist"/>
                <a:ea typeface="Urbanist"/>
                <a:cs typeface="Urbanist"/>
                <a:sym typeface="Urbanist"/>
              </a:rPr>
              <a:t>Annual Mean</a:t>
            </a:r>
            <a:endParaRPr lang="en-US" dirty="0"/>
          </a:p>
        </p:txBody>
      </p:sp>
      <p:pic>
        <p:nvPicPr>
          <p:cNvPr id="28" name="Picture 27">
            <a:extLst>
              <a:ext uri="{FF2B5EF4-FFF2-40B4-BE49-F238E27FC236}">
                <a16:creationId xmlns:a16="http://schemas.microsoft.com/office/drawing/2014/main" id="{7E1E713A-EBC1-916A-30C6-B3EDAAB08758}"/>
              </a:ext>
            </a:extLst>
          </p:cNvPr>
          <p:cNvPicPr>
            <a:picLocks noChangeAspect="1"/>
          </p:cNvPicPr>
          <p:nvPr/>
        </p:nvPicPr>
        <p:blipFill>
          <a:blip r:embed="rId11"/>
          <a:stretch>
            <a:fillRect/>
          </a:stretch>
        </p:blipFill>
        <p:spPr>
          <a:xfrm>
            <a:off x="9642531" y="5367415"/>
            <a:ext cx="1651281" cy="671708"/>
          </a:xfrm>
          <a:prstGeom prst="rect">
            <a:avLst/>
          </a:prstGeom>
        </p:spPr>
      </p:pic>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Shape 167">
          <a:extLst>
            <a:ext uri="{FF2B5EF4-FFF2-40B4-BE49-F238E27FC236}">
              <a16:creationId xmlns:a16="http://schemas.microsoft.com/office/drawing/2014/main" id="{CA98A7D7-B3D4-A1A3-6EF8-36ACAA376DF9}"/>
            </a:ext>
          </a:extLst>
        </p:cNvPr>
        <p:cNvGrpSpPr/>
        <p:nvPr/>
      </p:nvGrpSpPr>
      <p:grpSpPr>
        <a:xfrm>
          <a:off x="0" y="0"/>
          <a:ext cx="0" cy="0"/>
          <a:chOff x="0" y="0"/>
          <a:chExt cx="0" cy="0"/>
        </a:xfrm>
      </p:grpSpPr>
      <p:pic>
        <p:nvPicPr>
          <p:cNvPr id="168" name="Google Shape;168;p18" descr="image.png">
            <a:extLst>
              <a:ext uri="{FF2B5EF4-FFF2-40B4-BE49-F238E27FC236}">
                <a16:creationId xmlns:a16="http://schemas.microsoft.com/office/drawing/2014/main" id="{3267F728-4969-B068-7E7B-9016CDD1259B}"/>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69" name="Google Shape;169;p18" descr="image.png">
            <a:extLst>
              <a:ext uri="{FF2B5EF4-FFF2-40B4-BE49-F238E27FC236}">
                <a16:creationId xmlns:a16="http://schemas.microsoft.com/office/drawing/2014/main" id="{42D0B182-3CAF-7FBB-2139-A0C82B5C4548}"/>
              </a:ext>
            </a:extLst>
          </p:cNvPr>
          <p:cNvPicPr preferRelativeResize="0"/>
          <p:nvPr/>
        </p:nvPicPr>
        <p:blipFill rotWithShape="1">
          <a:blip r:embed="rId4">
            <a:alphaModFix/>
          </a:blip>
          <a:srcRect/>
          <a:stretch/>
        </p:blipFill>
        <p:spPr>
          <a:xfrm>
            <a:off x="6334125" y="2046833"/>
            <a:ext cx="5286375" cy="3810000"/>
          </a:xfrm>
          <a:prstGeom prst="rect">
            <a:avLst/>
          </a:prstGeom>
          <a:noFill/>
          <a:ln>
            <a:noFill/>
          </a:ln>
        </p:spPr>
      </p:pic>
      <p:sp>
        <p:nvSpPr>
          <p:cNvPr id="170" name="Google Shape;170;p18">
            <a:extLst>
              <a:ext uri="{FF2B5EF4-FFF2-40B4-BE49-F238E27FC236}">
                <a16:creationId xmlns:a16="http://schemas.microsoft.com/office/drawing/2014/main" id="{B3136737-6BEB-14FA-8FB2-DDBFBFC0804C}"/>
              </a:ext>
            </a:extLst>
          </p:cNvPr>
          <p:cNvSpPr txBox="1"/>
          <p:nvPr/>
        </p:nvSpPr>
        <p:spPr>
          <a:xfrm>
            <a:off x="571500" y="2195363"/>
            <a:ext cx="5550693" cy="355482"/>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100" b="1" i="0" u="none" strike="noStrike" cap="none" dirty="0">
                <a:solidFill>
                  <a:srgbClr val="F87171"/>
                </a:solidFill>
                <a:latin typeface="Urbanist"/>
                <a:ea typeface="Urbanist"/>
                <a:cs typeface="Urbanist"/>
                <a:sym typeface="Urbanist"/>
              </a:rPr>
              <a:t>Star Schema Model</a:t>
            </a:r>
            <a:endParaRPr dirty="0"/>
          </a:p>
        </p:txBody>
      </p:sp>
      <p:sp>
        <p:nvSpPr>
          <p:cNvPr id="171" name="Google Shape;171;p18">
            <a:extLst>
              <a:ext uri="{FF2B5EF4-FFF2-40B4-BE49-F238E27FC236}">
                <a16:creationId xmlns:a16="http://schemas.microsoft.com/office/drawing/2014/main" id="{BF934B5D-CEA4-5CB3-BC4C-FE4F08221773}"/>
              </a:ext>
            </a:extLst>
          </p:cNvPr>
          <p:cNvSpPr txBox="1"/>
          <p:nvPr/>
        </p:nvSpPr>
        <p:spPr>
          <a:xfrm>
            <a:off x="571500" y="2679203"/>
            <a:ext cx="528637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E5E5E5"/>
                </a:solidFill>
                <a:latin typeface="Urbanist"/>
                <a:ea typeface="Urbanist"/>
                <a:cs typeface="Urbanist"/>
                <a:sym typeface="Urbanist"/>
              </a:rPr>
              <a:t>The data model is built around a central Star Schema architecture to ensure high performance and scalability.</a:t>
            </a:r>
            <a:endParaRPr dirty="0"/>
          </a:p>
        </p:txBody>
      </p:sp>
      <p:sp>
        <p:nvSpPr>
          <p:cNvPr id="173" name="Google Shape;173;p18">
            <a:extLst>
              <a:ext uri="{FF2B5EF4-FFF2-40B4-BE49-F238E27FC236}">
                <a16:creationId xmlns:a16="http://schemas.microsoft.com/office/drawing/2014/main" id="{89D3B3A2-2BE4-5BC1-8016-694577494411}"/>
              </a:ext>
            </a:extLst>
          </p:cNvPr>
          <p:cNvSpPr txBox="1"/>
          <p:nvPr/>
        </p:nvSpPr>
        <p:spPr>
          <a:xfrm>
            <a:off x="914400" y="3441203"/>
            <a:ext cx="381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E5E5E5"/>
                </a:solidFill>
                <a:latin typeface="Urbanist"/>
                <a:ea typeface="Urbanist"/>
                <a:cs typeface="Urbanist"/>
                <a:sym typeface="Urbanist"/>
              </a:rPr>
              <a:t>•</a:t>
            </a:r>
            <a:endParaRPr/>
          </a:p>
        </p:txBody>
      </p:sp>
      <p:sp>
        <p:nvSpPr>
          <p:cNvPr id="174" name="Google Shape;174;p18">
            <a:extLst>
              <a:ext uri="{FF2B5EF4-FFF2-40B4-BE49-F238E27FC236}">
                <a16:creationId xmlns:a16="http://schemas.microsoft.com/office/drawing/2014/main" id="{3810B835-2E54-AA7E-63F8-E56824581C2E}"/>
              </a:ext>
            </a:extLst>
          </p:cNvPr>
          <p:cNvSpPr txBox="1"/>
          <p:nvPr/>
        </p:nvSpPr>
        <p:spPr>
          <a:xfrm>
            <a:off x="952500" y="3441203"/>
            <a:ext cx="4905375" cy="738664"/>
          </a:xfrm>
          <a:prstGeom prst="rect">
            <a:avLst/>
          </a:prstGeom>
          <a:noFill/>
          <a:ln>
            <a:noFill/>
          </a:ln>
        </p:spPr>
        <p:txBody>
          <a:bodyPr spcFirstLastPara="1" wrap="square" lIns="3810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rgbClr val="E5E5E5"/>
                </a:solidFill>
                <a:latin typeface="Urbanist"/>
                <a:ea typeface="Urbanist"/>
                <a:cs typeface="Urbanist"/>
                <a:sym typeface="Urbanist"/>
              </a:rPr>
              <a:t>Date Table (Center):</a:t>
            </a:r>
            <a:r>
              <a:rPr lang="en-US" sz="1500" b="0" i="0" u="none" strike="noStrike" cap="none" dirty="0">
                <a:solidFill>
                  <a:srgbClr val="E5E5E5"/>
                </a:solidFill>
                <a:latin typeface="Urbanist"/>
                <a:ea typeface="Urbanist"/>
                <a:cs typeface="Urbanist"/>
                <a:sym typeface="Urbanist"/>
              </a:rPr>
              <a:t> 'Arrivals’ connected to the Date table for visualization.</a:t>
            </a:r>
            <a:endParaRPr dirty="0"/>
          </a:p>
        </p:txBody>
      </p:sp>
      <p:sp>
        <p:nvSpPr>
          <p:cNvPr id="175" name="Google Shape;175;p18">
            <a:extLst>
              <a:ext uri="{FF2B5EF4-FFF2-40B4-BE49-F238E27FC236}">
                <a16:creationId xmlns:a16="http://schemas.microsoft.com/office/drawing/2014/main" id="{4192C11A-D18C-1FB2-3205-F0851FD3E374}"/>
              </a:ext>
            </a:extLst>
          </p:cNvPr>
          <p:cNvSpPr txBox="1"/>
          <p:nvPr/>
        </p:nvSpPr>
        <p:spPr>
          <a:xfrm>
            <a:off x="914400" y="4193678"/>
            <a:ext cx="381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E5E5E5"/>
                </a:solidFill>
                <a:latin typeface="Urbanist"/>
                <a:ea typeface="Urbanist"/>
                <a:cs typeface="Urbanist"/>
                <a:sym typeface="Urbanist"/>
              </a:rPr>
              <a:t>•</a:t>
            </a:r>
            <a:endParaRPr/>
          </a:p>
        </p:txBody>
      </p:sp>
      <p:sp>
        <p:nvSpPr>
          <p:cNvPr id="176" name="Google Shape;176;p18">
            <a:extLst>
              <a:ext uri="{FF2B5EF4-FFF2-40B4-BE49-F238E27FC236}">
                <a16:creationId xmlns:a16="http://schemas.microsoft.com/office/drawing/2014/main" id="{090F7BB5-CC52-348C-DDE2-25AF8809C172}"/>
              </a:ext>
            </a:extLst>
          </p:cNvPr>
          <p:cNvSpPr txBox="1"/>
          <p:nvPr/>
        </p:nvSpPr>
        <p:spPr>
          <a:xfrm>
            <a:off x="914399" y="4129964"/>
            <a:ext cx="4905375" cy="1477328"/>
          </a:xfrm>
          <a:prstGeom prst="rect">
            <a:avLst/>
          </a:prstGeom>
          <a:noFill/>
          <a:ln>
            <a:noFill/>
          </a:ln>
        </p:spPr>
        <p:txBody>
          <a:bodyPr spcFirstLastPara="1" wrap="square" lIns="3810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rgbClr val="E5E5E5"/>
                </a:solidFill>
                <a:latin typeface="Urbanist"/>
                <a:ea typeface="Urbanist"/>
                <a:cs typeface="Urbanist"/>
                <a:sym typeface="Urbanist"/>
              </a:rPr>
              <a:t>Arrivals, Spend, Countries &amp; Purpose Mix Tables (Outer):</a:t>
            </a:r>
            <a:r>
              <a:rPr lang="en-US" sz="1500" dirty="0">
                <a:solidFill>
                  <a:srgbClr val="E5E5E5"/>
                </a:solidFill>
                <a:latin typeface="Urbanist"/>
                <a:ea typeface="Urbanist"/>
                <a:cs typeface="Urbanist"/>
                <a:sym typeface="Urbanist"/>
              </a:rPr>
              <a:t>Arrivals connected to date through one-to-many relationships , Arrivals to countries, Countries connected to Spend, Countries to Purpose Mix.</a:t>
            </a:r>
            <a:endParaRPr dirty="0"/>
          </a:p>
        </p:txBody>
      </p:sp>
      <p:sp>
        <p:nvSpPr>
          <p:cNvPr id="178" name="Google Shape;178;p18">
            <a:extLst>
              <a:ext uri="{FF2B5EF4-FFF2-40B4-BE49-F238E27FC236}">
                <a16:creationId xmlns:a16="http://schemas.microsoft.com/office/drawing/2014/main" id="{951B6DAA-D367-BC26-DF14-0AD5AAF562A2}"/>
              </a:ext>
            </a:extLst>
          </p:cNvPr>
          <p:cNvSpPr txBox="1"/>
          <p:nvPr/>
        </p:nvSpPr>
        <p:spPr>
          <a:xfrm>
            <a:off x="894158" y="5552033"/>
            <a:ext cx="4905375" cy="738664"/>
          </a:xfrm>
          <a:prstGeom prst="rect">
            <a:avLst/>
          </a:prstGeom>
          <a:noFill/>
          <a:ln>
            <a:noFill/>
          </a:ln>
        </p:spPr>
        <p:txBody>
          <a:bodyPr spcFirstLastPara="1" wrap="square" lIns="3810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rgbClr val="E5E5E5"/>
                </a:solidFill>
                <a:latin typeface="Urbanist"/>
                <a:ea typeface="Urbanist"/>
                <a:cs typeface="Urbanist"/>
                <a:sym typeface="Urbanist"/>
              </a:rPr>
              <a:t>Benefits:</a:t>
            </a:r>
            <a:r>
              <a:rPr lang="en-US" sz="1500" b="0" i="0" u="none" strike="noStrike" cap="none" dirty="0">
                <a:solidFill>
                  <a:srgbClr val="E5E5E5"/>
                </a:solidFill>
                <a:latin typeface="Urbanist"/>
                <a:ea typeface="Urbanist"/>
                <a:cs typeface="Urbanist"/>
                <a:sym typeface="Urbanist"/>
              </a:rPr>
              <a:t> Enables fast slicing and dicing of P&amp;L by region or time period without any error or complexity.</a:t>
            </a:r>
            <a:endParaRPr dirty="0"/>
          </a:p>
        </p:txBody>
      </p:sp>
      <p:sp>
        <p:nvSpPr>
          <p:cNvPr id="179" name="Google Shape;179;p18">
            <a:extLst>
              <a:ext uri="{FF2B5EF4-FFF2-40B4-BE49-F238E27FC236}">
                <a16:creationId xmlns:a16="http://schemas.microsoft.com/office/drawing/2014/main" id="{25C452C7-6E68-5995-E012-C254E8A83FC8}"/>
              </a:ext>
            </a:extLst>
          </p:cNvPr>
          <p:cNvSpPr txBox="1"/>
          <p:nvPr/>
        </p:nvSpPr>
        <p:spPr>
          <a:xfrm>
            <a:off x="571500" y="571500"/>
            <a:ext cx="11601450" cy="521940"/>
          </a:xfrm>
          <a:prstGeom prst="rect">
            <a:avLst/>
          </a:prstGeom>
          <a:noFill/>
          <a:ln>
            <a:noFill/>
          </a:ln>
        </p:spPr>
        <p:txBody>
          <a:bodyPr spcFirstLastPara="1" wrap="square" lIns="0" tIns="0" rIns="0" bIns="0" anchor="t" anchorCtr="0">
            <a:spAutoFit/>
          </a:bodyPr>
          <a:lstStyle/>
          <a:p>
            <a:pPr marL="0" marR="0" lvl="0" indent="0" algn="l" rtl="0">
              <a:lnSpc>
                <a:spcPct val="109972"/>
              </a:lnSpc>
              <a:spcBef>
                <a:spcPts val="0"/>
              </a:spcBef>
              <a:spcAft>
                <a:spcPts val="0"/>
              </a:spcAft>
              <a:buNone/>
            </a:pPr>
            <a:r>
              <a:rPr lang="en-US" sz="3600" b="1" i="0" u="none" strike="noStrike" cap="none" dirty="0">
                <a:solidFill>
                  <a:srgbClr val="60A5FA"/>
                </a:solidFill>
                <a:latin typeface="Urbanist"/>
                <a:ea typeface="Urbanist"/>
                <a:cs typeface="Urbanist"/>
                <a:sym typeface="Urbanist"/>
              </a:rPr>
              <a:t>Data Modeling Strategy</a:t>
            </a:r>
            <a:endParaRPr dirty="0"/>
          </a:p>
        </p:txBody>
      </p:sp>
      <p:sp>
        <p:nvSpPr>
          <p:cNvPr id="180" name="Google Shape;180;p18">
            <a:extLst>
              <a:ext uri="{FF2B5EF4-FFF2-40B4-BE49-F238E27FC236}">
                <a16:creationId xmlns:a16="http://schemas.microsoft.com/office/drawing/2014/main" id="{5CBD5949-E57E-7985-64F2-A7B7E5CBA1F6}"/>
              </a:ext>
            </a:extLst>
          </p:cNvPr>
          <p:cNvSpPr/>
          <p:nvPr/>
        </p:nvSpPr>
        <p:spPr>
          <a:xfrm>
            <a:off x="571500" y="1217265"/>
            <a:ext cx="11049000" cy="19050"/>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 name="Picture 2" descr="A screenshot of a computer&#10;&#10;AI-generated content may be incorrect.">
            <a:extLst>
              <a:ext uri="{FF2B5EF4-FFF2-40B4-BE49-F238E27FC236}">
                <a16:creationId xmlns:a16="http://schemas.microsoft.com/office/drawing/2014/main" id="{F7528B1E-F8D9-8E68-3E55-2E8D537F8D80}"/>
              </a:ext>
            </a:extLst>
          </p:cNvPr>
          <p:cNvPicPr>
            <a:picLocks noChangeAspect="1"/>
          </p:cNvPicPr>
          <p:nvPr/>
        </p:nvPicPr>
        <p:blipFill>
          <a:blip r:embed="rId5"/>
          <a:stretch>
            <a:fillRect/>
          </a:stretch>
        </p:blipFill>
        <p:spPr>
          <a:xfrm>
            <a:off x="6313885" y="2074808"/>
            <a:ext cx="5306616" cy="3754049"/>
          </a:xfrm>
          <a:prstGeom prst="rect">
            <a:avLst/>
          </a:prstGeom>
        </p:spPr>
      </p:pic>
    </p:spTree>
    <p:extLst>
      <p:ext uri="{BB962C8B-B14F-4D97-AF65-F5344CB8AC3E}">
        <p14:creationId xmlns:p14="http://schemas.microsoft.com/office/powerpoint/2010/main" val="2531939571"/>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Shape 184"/>
        <p:cNvGrpSpPr/>
        <p:nvPr/>
      </p:nvGrpSpPr>
      <p:grpSpPr>
        <a:xfrm>
          <a:off x="0" y="0"/>
          <a:ext cx="0" cy="0"/>
          <a:chOff x="0" y="0"/>
          <a:chExt cx="0" cy="0"/>
        </a:xfrm>
      </p:grpSpPr>
      <p:pic>
        <p:nvPicPr>
          <p:cNvPr id="185" name="Google Shape;185;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86" name="Google Shape;186;p19"/>
          <p:cNvSpPr txBox="1"/>
          <p:nvPr/>
        </p:nvSpPr>
        <p:spPr>
          <a:xfrm>
            <a:off x="571500" y="571500"/>
            <a:ext cx="5200650" cy="521940"/>
          </a:xfrm>
          <a:prstGeom prst="rect">
            <a:avLst/>
          </a:prstGeom>
          <a:noFill/>
          <a:ln>
            <a:noFill/>
          </a:ln>
        </p:spPr>
        <p:txBody>
          <a:bodyPr spcFirstLastPara="1" wrap="square" lIns="0" tIns="0" rIns="0" bIns="0" anchor="t" anchorCtr="0">
            <a:spAutoFit/>
          </a:bodyPr>
          <a:lstStyle/>
          <a:p>
            <a:pPr marL="0" marR="0" lvl="0" indent="0" algn="l" rtl="0">
              <a:lnSpc>
                <a:spcPct val="109972"/>
              </a:lnSpc>
              <a:spcBef>
                <a:spcPts val="0"/>
              </a:spcBef>
              <a:spcAft>
                <a:spcPts val="0"/>
              </a:spcAft>
              <a:buNone/>
            </a:pPr>
            <a:r>
              <a:rPr lang="en-US" sz="3600" b="1" i="0" u="none" strike="noStrike" cap="none">
                <a:solidFill>
                  <a:srgbClr val="60A5FA"/>
                </a:solidFill>
                <a:latin typeface="Urbanist"/>
                <a:ea typeface="Urbanist"/>
                <a:cs typeface="Urbanist"/>
                <a:sym typeface="Urbanist"/>
              </a:rPr>
              <a:t>Core Visualizations</a:t>
            </a:r>
            <a:endParaRPr/>
          </a:p>
        </p:txBody>
      </p:sp>
      <p:sp>
        <p:nvSpPr>
          <p:cNvPr id="187" name="Google Shape;187;p19"/>
          <p:cNvSpPr/>
          <p:nvPr/>
        </p:nvSpPr>
        <p:spPr>
          <a:xfrm>
            <a:off x="571500" y="1217265"/>
            <a:ext cx="4953000" cy="19050"/>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8" name="Google Shape;188;p19"/>
          <p:cNvSpPr txBox="1"/>
          <p:nvPr/>
        </p:nvSpPr>
        <p:spPr>
          <a:xfrm>
            <a:off x="571500" y="1617315"/>
            <a:ext cx="5200650" cy="29334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100" b="1" i="0" u="none" strike="noStrike" cap="none">
                <a:solidFill>
                  <a:srgbClr val="F87171"/>
                </a:solidFill>
                <a:latin typeface="Urbanist"/>
                <a:ea typeface="Urbanist"/>
                <a:cs typeface="Urbanist"/>
                <a:sym typeface="Urbanist"/>
              </a:rPr>
              <a:t>Interactive Dashboard</a:t>
            </a:r>
            <a:endParaRPr/>
          </a:p>
        </p:txBody>
      </p:sp>
      <p:sp>
        <p:nvSpPr>
          <p:cNvPr id="189" name="Google Shape;189;p19"/>
          <p:cNvSpPr txBox="1"/>
          <p:nvPr/>
        </p:nvSpPr>
        <p:spPr>
          <a:xfrm>
            <a:off x="571500" y="2061507"/>
            <a:ext cx="4953000" cy="172354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b="0" i="0" u="none" strike="noStrike" cap="none" dirty="0">
                <a:solidFill>
                  <a:srgbClr val="E5E5E5"/>
                </a:solidFill>
                <a:latin typeface="Urbanist"/>
                <a:ea typeface="Urbanist"/>
                <a:cs typeface="Urbanist"/>
                <a:sym typeface="Urbanist"/>
              </a:rPr>
              <a:t>The dashboard provides a comprehensive view of tourism demand according to country and region and purpose. Bookmarks are used for Forecast Chart, Historical Chart, Growth-Markets Chart with Slicers.  </a:t>
            </a:r>
          </a:p>
          <a:p>
            <a:pPr marL="0" marR="0" lvl="0" indent="0" algn="l" rtl="0">
              <a:lnSpc>
                <a:spcPct val="160000"/>
              </a:lnSpc>
              <a:spcBef>
                <a:spcPts val="0"/>
              </a:spcBef>
              <a:spcAft>
                <a:spcPts val="0"/>
              </a:spcAft>
              <a:buNone/>
            </a:pPr>
            <a:r>
              <a:rPr lang="en-US" b="0" i="0" u="none" strike="noStrike" cap="none" dirty="0">
                <a:solidFill>
                  <a:srgbClr val="E5E5E5"/>
                </a:solidFill>
                <a:latin typeface="Urbanist"/>
                <a:ea typeface="Urbanist"/>
                <a:cs typeface="Urbanist"/>
                <a:sym typeface="Urbanist"/>
              </a:rPr>
              <a:t>Key features include:</a:t>
            </a:r>
            <a:endParaRPr dirty="0"/>
          </a:p>
        </p:txBody>
      </p:sp>
      <p:sp>
        <p:nvSpPr>
          <p:cNvPr id="190" name="Google Shape;190;p19"/>
          <p:cNvSpPr txBox="1"/>
          <p:nvPr/>
        </p:nvSpPr>
        <p:spPr>
          <a:xfrm>
            <a:off x="571500" y="5892105"/>
            <a:ext cx="495300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1" u="none" strike="noStrike" cap="none">
                <a:solidFill>
                  <a:srgbClr val="E5E5E5"/>
                </a:solidFill>
                <a:latin typeface="Urbanist"/>
                <a:ea typeface="Urbanist"/>
                <a:cs typeface="Urbanist"/>
                <a:sym typeface="Urbanist"/>
              </a:rPr>
              <a:t>(Visual Representation)</a:t>
            </a:r>
            <a:endParaRPr/>
          </a:p>
        </p:txBody>
      </p:sp>
      <p:sp>
        <p:nvSpPr>
          <p:cNvPr id="192" name="Google Shape;192;p19"/>
          <p:cNvSpPr txBox="1"/>
          <p:nvPr/>
        </p:nvSpPr>
        <p:spPr>
          <a:xfrm>
            <a:off x="1238250" y="3725964"/>
            <a:ext cx="4286250" cy="738664"/>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rgbClr val="E5E5E5"/>
                </a:solidFill>
                <a:latin typeface="Urbanist"/>
                <a:ea typeface="Urbanist"/>
                <a:cs typeface="Urbanist"/>
                <a:sym typeface="Urbanist"/>
              </a:rPr>
              <a:t>Global Overview:</a:t>
            </a:r>
            <a:r>
              <a:rPr lang="en-US" sz="1500" b="0" i="0" u="none" strike="noStrike" cap="none" dirty="0">
                <a:solidFill>
                  <a:srgbClr val="E5E5E5"/>
                </a:solidFill>
                <a:latin typeface="Urbanist"/>
                <a:ea typeface="Urbanist"/>
                <a:cs typeface="Urbanist"/>
                <a:sym typeface="Urbanist"/>
              </a:rPr>
              <a:t> Total Spend and Visitors by Country.</a:t>
            </a:r>
            <a:endParaRPr dirty="0"/>
          </a:p>
        </p:txBody>
      </p:sp>
      <p:sp>
        <p:nvSpPr>
          <p:cNvPr id="193" name="Google Shape;193;p19"/>
          <p:cNvSpPr txBox="1"/>
          <p:nvPr/>
        </p:nvSpPr>
        <p:spPr>
          <a:xfrm>
            <a:off x="1238250" y="4425135"/>
            <a:ext cx="4286250" cy="738664"/>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rgbClr val="E5E5E5"/>
                </a:solidFill>
                <a:latin typeface="Urbanist"/>
                <a:ea typeface="Urbanist"/>
                <a:cs typeface="Urbanist"/>
                <a:sym typeface="Urbanist"/>
              </a:rPr>
              <a:t>Dynamic Filtering:</a:t>
            </a:r>
            <a:r>
              <a:rPr lang="en-US" sz="1500" b="0" i="0" u="none" strike="noStrike" cap="none" dirty="0">
                <a:solidFill>
                  <a:srgbClr val="E5E5E5"/>
                </a:solidFill>
                <a:latin typeface="Urbanist"/>
                <a:ea typeface="Urbanist"/>
                <a:cs typeface="Urbanist"/>
                <a:sym typeface="Urbanist"/>
              </a:rPr>
              <a:t> Slicers for </a:t>
            </a:r>
            <a:r>
              <a:rPr lang="en-US" sz="1500" dirty="0">
                <a:solidFill>
                  <a:srgbClr val="E5E5E5"/>
                </a:solidFill>
                <a:latin typeface="Urbanist"/>
                <a:ea typeface="Urbanist"/>
                <a:cs typeface="Urbanist"/>
                <a:sym typeface="Urbanist"/>
              </a:rPr>
              <a:t>R</a:t>
            </a:r>
            <a:r>
              <a:rPr lang="en-US" sz="1500" b="0" i="0" u="none" strike="noStrike" cap="none" dirty="0">
                <a:solidFill>
                  <a:srgbClr val="E5E5E5"/>
                </a:solidFill>
                <a:latin typeface="Urbanist"/>
                <a:ea typeface="Urbanist"/>
                <a:cs typeface="Urbanist"/>
                <a:sym typeface="Urbanist"/>
              </a:rPr>
              <a:t>egion</a:t>
            </a:r>
            <a:r>
              <a:rPr lang="en-US" sz="1500" dirty="0">
                <a:solidFill>
                  <a:srgbClr val="E5E5E5"/>
                </a:solidFill>
                <a:latin typeface="Urbanist"/>
                <a:ea typeface="Urbanist"/>
                <a:cs typeface="Urbanist"/>
                <a:sym typeface="Urbanist"/>
              </a:rPr>
              <a:t>, P</a:t>
            </a:r>
            <a:r>
              <a:rPr lang="en-US" sz="1500" b="0" i="0" u="none" strike="noStrike" cap="none" dirty="0">
                <a:solidFill>
                  <a:srgbClr val="E5E5E5"/>
                </a:solidFill>
                <a:latin typeface="Urbanist"/>
                <a:ea typeface="Urbanist"/>
                <a:cs typeface="Urbanist"/>
                <a:sym typeface="Urbanist"/>
              </a:rPr>
              <a:t>urpose and Country.</a:t>
            </a:r>
            <a:endParaRPr dirty="0"/>
          </a:p>
        </p:txBody>
      </p:sp>
      <p:sp>
        <p:nvSpPr>
          <p:cNvPr id="194" name="Google Shape;194;p19"/>
          <p:cNvSpPr txBox="1"/>
          <p:nvPr/>
        </p:nvSpPr>
        <p:spPr>
          <a:xfrm>
            <a:off x="1238250" y="5163799"/>
            <a:ext cx="4286250" cy="36933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rgbClr val="E5E5E5"/>
                </a:solidFill>
                <a:latin typeface="Urbanist"/>
                <a:ea typeface="Urbanist"/>
                <a:cs typeface="Urbanist"/>
                <a:sym typeface="Urbanist"/>
              </a:rPr>
              <a:t>Trend Analysis:</a:t>
            </a:r>
            <a:r>
              <a:rPr lang="en-US" sz="1500" b="0" i="0" u="none" strike="noStrike" cap="none" dirty="0">
                <a:solidFill>
                  <a:srgbClr val="E5E5E5"/>
                </a:solidFill>
                <a:latin typeface="Urbanist"/>
                <a:ea typeface="Urbanist"/>
                <a:cs typeface="Urbanist"/>
                <a:sym typeface="Urbanist"/>
              </a:rPr>
              <a:t> Total Visitors and YOY Growth %.</a:t>
            </a:r>
            <a:endParaRPr dirty="0"/>
          </a:p>
        </p:txBody>
      </p:sp>
      <p:pic>
        <p:nvPicPr>
          <p:cNvPr id="195" name="Google Shape;195;p19" descr="image.png"/>
          <p:cNvPicPr preferRelativeResize="0"/>
          <p:nvPr/>
        </p:nvPicPr>
        <p:blipFill rotWithShape="1">
          <a:blip r:embed="rId4">
            <a:alphaModFix/>
          </a:blip>
          <a:srcRect/>
          <a:stretch/>
        </p:blipFill>
        <p:spPr>
          <a:xfrm>
            <a:off x="952499" y="3826767"/>
            <a:ext cx="123825" cy="200025"/>
          </a:xfrm>
          <a:prstGeom prst="rect">
            <a:avLst/>
          </a:prstGeom>
          <a:noFill/>
          <a:ln>
            <a:noFill/>
          </a:ln>
        </p:spPr>
      </p:pic>
      <p:pic>
        <p:nvPicPr>
          <p:cNvPr id="196" name="Google Shape;196;p19" descr="image.png"/>
          <p:cNvPicPr preferRelativeResize="0"/>
          <p:nvPr/>
        </p:nvPicPr>
        <p:blipFill rotWithShape="1">
          <a:blip r:embed="rId4">
            <a:alphaModFix/>
          </a:blip>
          <a:srcRect/>
          <a:stretch/>
        </p:blipFill>
        <p:spPr>
          <a:xfrm>
            <a:off x="952499" y="4507466"/>
            <a:ext cx="123825" cy="200025"/>
          </a:xfrm>
          <a:prstGeom prst="rect">
            <a:avLst/>
          </a:prstGeom>
          <a:noFill/>
          <a:ln>
            <a:noFill/>
          </a:ln>
        </p:spPr>
      </p:pic>
      <p:pic>
        <p:nvPicPr>
          <p:cNvPr id="197" name="Google Shape;197;p19" descr="image.png"/>
          <p:cNvPicPr preferRelativeResize="0"/>
          <p:nvPr/>
        </p:nvPicPr>
        <p:blipFill rotWithShape="1">
          <a:blip r:embed="rId4">
            <a:alphaModFix/>
          </a:blip>
          <a:srcRect/>
          <a:stretch/>
        </p:blipFill>
        <p:spPr>
          <a:xfrm>
            <a:off x="952500" y="5268574"/>
            <a:ext cx="123825" cy="200025"/>
          </a:xfrm>
          <a:prstGeom prst="rect">
            <a:avLst/>
          </a:prstGeom>
          <a:noFill/>
          <a:ln>
            <a:noFill/>
          </a:ln>
        </p:spPr>
      </p:pic>
      <p:pic>
        <p:nvPicPr>
          <p:cNvPr id="5" name="Picture 4">
            <a:extLst>
              <a:ext uri="{FF2B5EF4-FFF2-40B4-BE49-F238E27FC236}">
                <a16:creationId xmlns:a16="http://schemas.microsoft.com/office/drawing/2014/main" id="{3E367CE8-9B5E-0DDA-FA35-F188D44BB0D3}"/>
              </a:ext>
            </a:extLst>
          </p:cNvPr>
          <p:cNvPicPr>
            <a:picLocks noChangeAspect="1"/>
          </p:cNvPicPr>
          <p:nvPr/>
        </p:nvPicPr>
        <p:blipFill>
          <a:blip r:embed="rId5"/>
          <a:stretch>
            <a:fillRect/>
          </a:stretch>
        </p:blipFill>
        <p:spPr>
          <a:xfrm>
            <a:off x="10921306" y="2327885"/>
            <a:ext cx="990659" cy="400075"/>
          </a:xfrm>
          <a:prstGeom prst="rect">
            <a:avLst/>
          </a:prstGeom>
        </p:spPr>
      </p:pic>
      <p:pic>
        <p:nvPicPr>
          <p:cNvPr id="4" name="Picture 3" descr="A screenshot of a computer screen">
            <a:extLst>
              <a:ext uri="{FF2B5EF4-FFF2-40B4-BE49-F238E27FC236}">
                <a16:creationId xmlns:a16="http://schemas.microsoft.com/office/drawing/2014/main" id="{3177301B-3183-D6E8-E5BF-F79042E1EEC9}"/>
              </a:ext>
            </a:extLst>
          </p:cNvPr>
          <p:cNvPicPr>
            <a:picLocks noChangeAspect="1"/>
          </p:cNvPicPr>
          <p:nvPr/>
        </p:nvPicPr>
        <p:blipFill>
          <a:blip r:embed="rId6"/>
          <a:stretch>
            <a:fillRect/>
          </a:stretch>
        </p:blipFill>
        <p:spPr>
          <a:xfrm>
            <a:off x="5607503" y="1915832"/>
            <a:ext cx="6448839" cy="3620264"/>
          </a:xfrm>
          <a:prstGeom prst="rect">
            <a:avLst/>
          </a:prstGeom>
        </p:spPr>
      </p:pic>
    </p:spTree>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Shape 184">
          <a:extLst>
            <a:ext uri="{FF2B5EF4-FFF2-40B4-BE49-F238E27FC236}">
              <a16:creationId xmlns:a16="http://schemas.microsoft.com/office/drawing/2014/main" id="{08EB4DCB-92F9-207A-A37C-411682BB96E8}"/>
            </a:ext>
          </a:extLst>
        </p:cNvPr>
        <p:cNvGrpSpPr/>
        <p:nvPr/>
      </p:nvGrpSpPr>
      <p:grpSpPr>
        <a:xfrm>
          <a:off x="0" y="0"/>
          <a:ext cx="0" cy="0"/>
          <a:chOff x="0" y="0"/>
          <a:chExt cx="0" cy="0"/>
        </a:xfrm>
      </p:grpSpPr>
      <p:pic>
        <p:nvPicPr>
          <p:cNvPr id="185" name="Google Shape;185;p19" descr="image.png">
            <a:extLst>
              <a:ext uri="{FF2B5EF4-FFF2-40B4-BE49-F238E27FC236}">
                <a16:creationId xmlns:a16="http://schemas.microsoft.com/office/drawing/2014/main" id="{DFBFDC4F-A8D6-FBB8-1822-6FA7DED04079}"/>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86" name="Google Shape;186;p19">
            <a:extLst>
              <a:ext uri="{FF2B5EF4-FFF2-40B4-BE49-F238E27FC236}">
                <a16:creationId xmlns:a16="http://schemas.microsoft.com/office/drawing/2014/main" id="{9DA2ED84-37E7-319D-D02D-A8276573A8F2}"/>
              </a:ext>
            </a:extLst>
          </p:cNvPr>
          <p:cNvSpPr txBox="1"/>
          <p:nvPr/>
        </p:nvSpPr>
        <p:spPr>
          <a:xfrm>
            <a:off x="571500" y="571500"/>
            <a:ext cx="5200650" cy="521940"/>
          </a:xfrm>
          <a:prstGeom prst="rect">
            <a:avLst/>
          </a:prstGeom>
          <a:noFill/>
          <a:ln>
            <a:noFill/>
          </a:ln>
        </p:spPr>
        <p:txBody>
          <a:bodyPr spcFirstLastPara="1" wrap="square" lIns="0" tIns="0" rIns="0" bIns="0" anchor="t" anchorCtr="0">
            <a:spAutoFit/>
          </a:bodyPr>
          <a:lstStyle/>
          <a:p>
            <a:pPr marL="0" marR="0" lvl="0" indent="0" algn="l" rtl="0">
              <a:lnSpc>
                <a:spcPct val="109972"/>
              </a:lnSpc>
              <a:spcBef>
                <a:spcPts val="0"/>
              </a:spcBef>
              <a:spcAft>
                <a:spcPts val="0"/>
              </a:spcAft>
              <a:buNone/>
            </a:pPr>
            <a:r>
              <a:rPr lang="en-US" sz="3600" b="1" i="0" u="none" strike="noStrike" cap="none" dirty="0">
                <a:solidFill>
                  <a:srgbClr val="60A5FA"/>
                </a:solidFill>
                <a:latin typeface="Urbanist"/>
                <a:ea typeface="Urbanist"/>
                <a:cs typeface="Urbanist"/>
                <a:sym typeface="Urbanist"/>
              </a:rPr>
              <a:t>Core Visualizations</a:t>
            </a:r>
            <a:endParaRPr dirty="0"/>
          </a:p>
        </p:txBody>
      </p:sp>
      <p:sp>
        <p:nvSpPr>
          <p:cNvPr id="187" name="Google Shape;187;p19">
            <a:extLst>
              <a:ext uri="{FF2B5EF4-FFF2-40B4-BE49-F238E27FC236}">
                <a16:creationId xmlns:a16="http://schemas.microsoft.com/office/drawing/2014/main" id="{D405B641-740C-8283-F293-D342E8E6D731}"/>
              </a:ext>
            </a:extLst>
          </p:cNvPr>
          <p:cNvSpPr/>
          <p:nvPr/>
        </p:nvSpPr>
        <p:spPr>
          <a:xfrm>
            <a:off x="571500" y="1217265"/>
            <a:ext cx="4953000" cy="19050"/>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8" name="Google Shape;188;p19">
            <a:extLst>
              <a:ext uri="{FF2B5EF4-FFF2-40B4-BE49-F238E27FC236}">
                <a16:creationId xmlns:a16="http://schemas.microsoft.com/office/drawing/2014/main" id="{F2B2F292-505C-035F-901A-C50D3B2DD759}"/>
              </a:ext>
            </a:extLst>
          </p:cNvPr>
          <p:cNvSpPr txBox="1"/>
          <p:nvPr/>
        </p:nvSpPr>
        <p:spPr>
          <a:xfrm>
            <a:off x="571500" y="1617315"/>
            <a:ext cx="5200650" cy="355482"/>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100" b="1" i="0" u="none" strike="noStrike" cap="none" dirty="0">
                <a:solidFill>
                  <a:srgbClr val="F87171"/>
                </a:solidFill>
                <a:latin typeface="Urbanist"/>
                <a:ea typeface="Urbanist"/>
                <a:cs typeface="Urbanist"/>
                <a:sym typeface="Urbanist"/>
              </a:rPr>
              <a:t>Country Profile</a:t>
            </a:r>
            <a:endParaRPr dirty="0"/>
          </a:p>
        </p:txBody>
      </p:sp>
      <p:sp>
        <p:nvSpPr>
          <p:cNvPr id="189" name="Google Shape;189;p19">
            <a:extLst>
              <a:ext uri="{FF2B5EF4-FFF2-40B4-BE49-F238E27FC236}">
                <a16:creationId xmlns:a16="http://schemas.microsoft.com/office/drawing/2014/main" id="{91C086DD-4E75-C61B-6AED-F9328FE66F9B}"/>
              </a:ext>
            </a:extLst>
          </p:cNvPr>
          <p:cNvSpPr txBox="1"/>
          <p:nvPr/>
        </p:nvSpPr>
        <p:spPr>
          <a:xfrm>
            <a:off x="571500" y="2061507"/>
            <a:ext cx="4953000" cy="3791807"/>
          </a:xfrm>
          <a:prstGeom prst="rect">
            <a:avLst/>
          </a:prstGeom>
          <a:noFill/>
          <a:ln>
            <a:noFill/>
          </a:ln>
        </p:spPr>
        <p:txBody>
          <a:bodyPr spcFirstLastPara="1" wrap="square" lIns="0" tIns="0" rIns="0" bIns="0" anchor="t" anchorCtr="0">
            <a:spAutoFit/>
          </a:bodyPr>
          <a:lstStyle/>
          <a:p>
            <a:pPr lvl="0">
              <a:lnSpc>
                <a:spcPct val="160000"/>
              </a:lnSpc>
            </a:pPr>
            <a:r>
              <a:rPr lang="en-US" dirty="0">
                <a:solidFill>
                  <a:schemeClr val="bg1"/>
                </a:solidFill>
              </a:rPr>
              <a:t>This page acts as the dedicated </a:t>
            </a:r>
            <a:r>
              <a:rPr lang="en-US" i="1" dirty="0">
                <a:solidFill>
                  <a:schemeClr val="bg1"/>
                </a:solidFill>
              </a:rPr>
              <a:t>drill-through</a:t>
            </a:r>
            <a:r>
              <a:rPr lang="en-US" dirty="0">
                <a:solidFill>
                  <a:schemeClr val="bg1"/>
                </a:solidFill>
              </a:rPr>
              <a:t> destination from the main dashboard. When a user selects a specific country on the first page, the slicers automatically filter this page to display all regional and country-level statistics relevant to that selection.</a:t>
            </a:r>
          </a:p>
          <a:p>
            <a:r>
              <a:rPr lang="en-US" b="1" dirty="0">
                <a:solidFill>
                  <a:schemeClr val="bg1"/>
                </a:solidFill>
              </a:rPr>
              <a:t>Key Features Include:</a:t>
            </a:r>
          </a:p>
          <a:p>
            <a:r>
              <a:rPr lang="en-US" dirty="0">
                <a:solidFill>
                  <a:schemeClr val="bg1"/>
                </a:solidFill>
              </a:rPr>
              <a:t>Automatically filtered metrics based on the country selected on the main page Regional breakdowns aligned with the active slicer context Detailed visitor trends such as monthly arrivals, purpose of visit, and spending behavior</a:t>
            </a:r>
          </a:p>
          <a:p>
            <a:r>
              <a:rPr lang="en-US" dirty="0">
                <a:solidFill>
                  <a:schemeClr val="bg1"/>
                </a:solidFill>
              </a:rPr>
              <a:t>KPI cards showing Total Visitors and Spend per Visitor for the selected country A clean, focused layout designed specifically for drill-through analysis</a:t>
            </a:r>
          </a:p>
          <a:p>
            <a:pPr lvl="0">
              <a:lnSpc>
                <a:spcPct val="160000"/>
              </a:lnSpc>
            </a:pPr>
            <a:endParaRPr dirty="0">
              <a:solidFill>
                <a:schemeClr val="bg1"/>
              </a:solidFill>
            </a:endParaRPr>
          </a:p>
        </p:txBody>
      </p:sp>
      <p:sp>
        <p:nvSpPr>
          <p:cNvPr id="190" name="Google Shape;190;p19">
            <a:extLst>
              <a:ext uri="{FF2B5EF4-FFF2-40B4-BE49-F238E27FC236}">
                <a16:creationId xmlns:a16="http://schemas.microsoft.com/office/drawing/2014/main" id="{820A798C-558C-4C65-85B9-4499F5FD2DE2}"/>
              </a:ext>
            </a:extLst>
          </p:cNvPr>
          <p:cNvSpPr txBox="1"/>
          <p:nvPr/>
        </p:nvSpPr>
        <p:spPr>
          <a:xfrm>
            <a:off x="571500" y="5892105"/>
            <a:ext cx="495300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1" u="none" strike="noStrike" cap="none" dirty="0">
                <a:solidFill>
                  <a:srgbClr val="E5E5E5"/>
                </a:solidFill>
                <a:latin typeface="Urbanist"/>
                <a:ea typeface="Urbanist"/>
                <a:cs typeface="Urbanist"/>
                <a:sym typeface="Urbanist"/>
              </a:rPr>
              <a:t>(Visual Representation)</a:t>
            </a:r>
            <a:endParaRPr dirty="0"/>
          </a:p>
        </p:txBody>
      </p:sp>
      <p:pic>
        <p:nvPicPr>
          <p:cNvPr id="3" name="Picture 2" descr="A screenshot of a computer screen">
            <a:extLst>
              <a:ext uri="{FF2B5EF4-FFF2-40B4-BE49-F238E27FC236}">
                <a16:creationId xmlns:a16="http://schemas.microsoft.com/office/drawing/2014/main" id="{E600023F-7E20-595D-85B7-83D9D890AC1E}"/>
              </a:ext>
            </a:extLst>
          </p:cNvPr>
          <p:cNvPicPr>
            <a:picLocks noChangeAspect="1"/>
          </p:cNvPicPr>
          <p:nvPr/>
        </p:nvPicPr>
        <p:blipFill>
          <a:blip r:embed="rId4"/>
          <a:stretch>
            <a:fillRect/>
          </a:stretch>
        </p:blipFill>
        <p:spPr>
          <a:xfrm>
            <a:off x="5732108" y="2061507"/>
            <a:ext cx="6252283" cy="3290930"/>
          </a:xfrm>
          <a:prstGeom prst="rect">
            <a:avLst/>
          </a:prstGeom>
        </p:spPr>
      </p:pic>
    </p:spTree>
    <p:extLst>
      <p:ext uri="{BB962C8B-B14F-4D97-AF65-F5344CB8AC3E}">
        <p14:creationId xmlns:p14="http://schemas.microsoft.com/office/powerpoint/2010/main" val="2661894410"/>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Shape 201"/>
        <p:cNvGrpSpPr/>
        <p:nvPr/>
      </p:nvGrpSpPr>
      <p:grpSpPr>
        <a:xfrm>
          <a:off x="0" y="0"/>
          <a:ext cx="0" cy="0"/>
          <a:chOff x="0" y="0"/>
          <a:chExt cx="0" cy="0"/>
        </a:xfrm>
      </p:grpSpPr>
      <p:pic>
        <p:nvPicPr>
          <p:cNvPr id="202" name="Google Shape;202;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06" name="Google Shape;206;p20"/>
          <p:cNvSpPr txBox="1"/>
          <p:nvPr/>
        </p:nvSpPr>
        <p:spPr>
          <a:xfrm>
            <a:off x="626745" y="1518270"/>
            <a:ext cx="5154295" cy="355482"/>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100" b="1" i="0" u="none" strike="noStrike" cap="none" dirty="0">
                <a:solidFill>
                  <a:srgbClr val="F87171"/>
                </a:solidFill>
                <a:latin typeface="Urbanist"/>
                <a:ea typeface="Urbanist"/>
                <a:cs typeface="Urbanist"/>
                <a:sym typeface="Urbanist"/>
              </a:rPr>
              <a:t>Seasonality Index Chart in Country Profile</a:t>
            </a:r>
            <a:endParaRPr dirty="0"/>
          </a:p>
        </p:txBody>
      </p:sp>
      <p:sp>
        <p:nvSpPr>
          <p:cNvPr id="208" name="Google Shape;208;p20"/>
          <p:cNvSpPr txBox="1"/>
          <p:nvPr/>
        </p:nvSpPr>
        <p:spPr>
          <a:xfrm>
            <a:off x="6243875" y="1518270"/>
            <a:ext cx="4730591" cy="541687"/>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1600" b="1" i="0" u="none" strike="noStrike" cap="none" dirty="0">
                <a:solidFill>
                  <a:srgbClr val="F87171"/>
                </a:solidFill>
                <a:latin typeface="Urbanist"/>
                <a:ea typeface="Urbanist"/>
                <a:cs typeface="Urbanist"/>
                <a:sym typeface="Urbanist"/>
              </a:rPr>
              <a:t>Total Visitors by Year, Quarter, Month and Day. (Max/Peak and Min/Off-Peak and Forecast)</a:t>
            </a:r>
            <a:endParaRPr sz="1600" dirty="0"/>
          </a:p>
        </p:txBody>
      </p:sp>
      <p:sp>
        <p:nvSpPr>
          <p:cNvPr id="209" name="Google Shape;209;p20"/>
          <p:cNvSpPr txBox="1"/>
          <p:nvPr/>
        </p:nvSpPr>
        <p:spPr>
          <a:xfrm>
            <a:off x="6282742" y="2059956"/>
            <a:ext cx="5297680" cy="1181862"/>
          </a:xfrm>
          <a:prstGeom prst="rect">
            <a:avLst/>
          </a:prstGeom>
          <a:noFill/>
          <a:ln>
            <a:noFill/>
          </a:ln>
        </p:spPr>
        <p:txBody>
          <a:bodyPr spcFirstLastPara="1" wrap="square" lIns="0" tIns="0" rIns="0" bIns="0" anchor="t" anchorCtr="0">
            <a:spAutoFit/>
          </a:bodyPr>
          <a:lstStyle/>
          <a:p>
            <a:pPr marR="0" lvl="0" algn="l" rtl="0">
              <a:lnSpc>
                <a:spcPct val="160000"/>
              </a:lnSpc>
              <a:spcBef>
                <a:spcPts val="0"/>
              </a:spcBef>
              <a:spcAft>
                <a:spcPts val="0"/>
              </a:spcAft>
              <a:buClr>
                <a:schemeClr val="bg1">
                  <a:lumMod val="95000"/>
                </a:schemeClr>
              </a:buClr>
            </a:pPr>
            <a:r>
              <a:rPr lang="en-IN" sz="1200" dirty="0">
                <a:solidFill>
                  <a:schemeClr val="bg1"/>
                </a:solidFill>
              </a:rPr>
              <a:t>The Further chart on page 2 includes:</a:t>
            </a:r>
          </a:p>
          <a:p>
            <a:pPr marL="228600" marR="0" lvl="0" indent="-228600" algn="l" rtl="0">
              <a:lnSpc>
                <a:spcPct val="160000"/>
              </a:lnSpc>
              <a:spcBef>
                <a:spcPts val="0"/>
              </a:spcBef>
              <a:spcAft>
                <a:spcPts val="0"/>
              </a:spcAft>
              <a:buClr>
                <a:schemeClr val="bg1">
                  <a:lumMod val="95000"/>
                </a:schemeClr>
              </a:buClr>
              <a:buFont typeface="+mj-lt"/>
              <a:buAutoNum type="arabicPeriod"/>
            </a:pPr>
            <a:r>
              <a:rPr lang="en-IN" sz="1200" dirty="0">
                <a:solidFill>
                  <a:schemeClr val="bg1"/>
                </a:solidFill>
              </a:rPr>
              <a:t>A Stacked Column Chart with Total Visitors by Region ,</a:t>
            </a:r>
          </a:p>
          <a:p>
            <a:pPr marL="228600" lvl="0" indent="-228600">
              <a:lnSpc>
                <a:spcPct val="160000"/>
              </a:lnSpc>
              <a:buClr>
                <a:schemeClr val="bg1">
                  <a:lumMod val="95000"/>
                </a:schemeClr>
              </a:buClr>
              <a:buFont typeface="+mj-lt"/>
              <a:buAutoNum type="arabicPeriod"/>
            </a:pPr>
            <a:r>
              <a:rPr lang="en-IN" sz="1200" dirty="0">
                <a:solidFill>
                  <a:schemeClr val="bg1"/>
                </a:solidFill>
              </a:rPr>
              <a:t> A Stacked Column Chart with Average Spend per Visitor by Region,</a:t>
            </a:r>
          </a:p>
          <a:p>
            <a:pPr marL="228600" marR="0" lvl="0" indent="-228600" algn="l" rtl="0">
              <a:lnSpc>
                <a:spcPct val="160000"/>
              </a:lnSpc>
              <a:spcBef>
                <a:spcPts val="0"/>
              </a:spcBef>
              <a:spcAft>
                <a:spcPts val="0"/>
              </a:spcAft>
              <a:buClr>
                <a:schemeClr val="bg1">
                  <a:lumMod val="95000"/>
                </a:schemeClr>
              </a:buClr>
              <a:buFont typeface="+mj-lt"/>
              <a:buAutoNum type="arabicPeriod"/>
            </a:pPr>
            <a:r>
              <a:rPr lang="en-IN" sz="1200" dirty="0">
                <a:solidFill>
                  <a:schemeClr val="bg1"/>
                </a:solidFill>
              </a:rPr>
              <a:t>Scatter Chart with Arrivals vs Spend Correlation.</a:t>
            </a:r>
            <a:endParaRPr sz="1200" dirty="0">
              <a:solidFill>
                <a:schemeClr val="bg1"/>
              </a:solidFill>
            </a:endParaRPr>
          </a:p>
        </p:txBody>
      </p:sp>
      <p:sp>
        <p:nvSpPr>
          <p:cNvPr id="211" name="Google Shape;211;p20"/>
          <p:cNvSpPr txBox="1"/>
          <p:nvPr/>
        </p:nvSpPr>
        <p:spPr>
          <a:xfrm>
            <a:off x="571500" y="571500"/>
            <a:ext cx="11601450" cy="609398"/>
          </a:xfrm>
          <a:prstGeom prst="rect">
            <a:avLst/>
          </a:prstGeom>
          <a:noFill/>
          <a:ln>
            <a:noFill/>
          </a:ln>
        </p:spPr>
        <p:txBody>
          <a:bodyPr spcFirstLastPara="1" wrap="square" lIns="0" tIns="0" rIns="0" bIns="0" anchor="t" anchorCtr="0">
            <a:spAutoFit/>
          </a:bodyPr>
          <a:lstStyle/>
          <a:p>
            <a:pPr marL="0" marR="0" lvl="0" indent="0" algn="l" rtl="0">
              <a:lnSpc>
                <a:spcPct val="109972"/>
              </a:lnSpc>
              <a:spcBef>
                <a:spcPts val="0"/>
              </a:spcBef>
              <a:spcAft>
                <a:spcPts val="0"/>
              </a:spcAft>
              <a:buNone/>
            </a:pPr>
            <a:r>
              <a:rPr lang="en-US" sz="3600" b="1" i="0" u="none" strike="noStrike" cap="none" dirty="0">
                <a:solidFill>
                  <a:srgbClr val="60A5FA"/>
                </a:solidFill>
                <a:latin typeface="Urbanist"/>
                <a:ea typeface="Urbanist"/>
                <a:cs typeface="Urbanist"/>
                <a:sym typeface="Urbanist"/>
              </a:rPr>
              <a:t>Forecasting Charts:</a:t>
            </a:r>
            <a:endParaRPr dirty="0"/>
          </a:p>
        </p:txBody>
      </p:sp>
      <p:sp>
        <p:nvSpPr>
          <p:cNvPr id="212" name="Google Shape;212;p20"/>
          <p:cNvSpPr/>
          <p:nvPr/>
        </p:nvSpPr>
        <p:spPr>
          <a:xfrm>
            <a:off x="571500" y="1217265"/>
            <a:ext cx="11049000" cy="19050"/>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F1EE70C6-FED4-506C-860E-37AD3386550B}"/>
              </a:ext>
            </a:extLst>
          </p:cNvPr>
          <p:cNvPicPr>
            <a:picLocks noChangeAspect="1"/>
          </p:cNvPicPr>
          <p:nvPr/>
        </p:nvPicPr>
        <p:blipFill>
          <a:blip r:embed="rId4"/>
          <a:stretch>
            <a:fillRect/>
          </a:stretch>
        </p:blipFill>
        <p:spPr>
          <a:xfrm>
            <a:off x="678172" y="2597999"/>
            <a:ext cx="4658375" cy="1962424"/>
          </a:xfrm>
          <a:prstGeom prst="rect">
            <a:avLst/>
          </a:prstGeom>
        </p:spPr>
      </p:pic>
      <p:pic>
        <p:nvPicPr>
          <p:cNvPr id="5" name="Picture 4">
            <a:extLst>
              <a:ext uri="{FF2B5EF4-FFF2-40B4-BE49-F238E27FC236}">
                <a16:creationId xmlns:a16="http://schemas.microsoft.com/office/drawing/2014/main" id="{7EE428F9-4A00-77F6-24EA-7A589E46F40B}"/>
              </a:ext>
            </a:extLst>
          </p:cNvPr>
          <p:cNvPicPr>
            <a:picLocks noChangeAspect="1"/>
          </p:cNvPicPr>
          <p:nvPr/>
        </p:nvPicPr>
        <p:blipFill>
          <a:blip r:embed="rId5"/>
          <a:stretch>
            <a:fillRect/>
          </a:stretch>
        </p:blipFill>
        <p:spPr>
          <a:xfrm>
            <a:off x="662852" y="4733557"/>
            <a:ext cx="5257695" cy="1714774"/>
          </a:xfrm>
          <a:prstGeom prst="rect">
            <a:avLst/>
          </a:prstGeom>
        </p:spPr>
      </p:pic>
      <p:sp>
        <p:nvSpPr>
          <p:cNvPr id="7" name="TextBox 6">
            <a:extLst>
              <a:ext uri="{FF2B5EF4-FFF2-40B4-BE49-F238E27FC236}">
                <a16:creationId xmlns:a16="http://schemas.microsoft.com/office/drawing/2014/main" id="{114E0409-A859-92EC-5349-11DCBD6066FF}"/>
              </a:ext>
            </a:extLst>
          </p:cNvPr>
          <p:cNvSpPr txBox="1"/>
          <p:nvPr/>
        </p:nvSpPr>
        <p:spPr>
          <a:xfrm>
            <a:off x="584755" y="1938707"/>
            <a:ext cx="5511245" cy="551113"/>
          </a:xfrm>
          <a:prstGeom prst="rect">
            <a:avLst/>
          </a:prstGeom>
          <a:noFill/>
        </p:spPr>
        <p:txBody>
          <a:bodyPr wrap="square">
            <a:spAutoFit/>
          </a:bodyPr>
          <a:lstStyle/>
          <a:p>
            <a:pPr marL="0" marR="0" lvl="0" indent="0" algn="l" rtl="0">
              <a:lnSpc>
                <a:spcPct val="110000"/>
              </a:lnSpc>
              <a:spcBef>
                <a:spcPts val="0"/>
              </a:spcBef>
              <a:spcAft>
                <a:spcPts val="0"/>
              </a:spcAft>
              <a:buNone/>
            </a:pPr>
            <a:r>
              <a:rPr lang="en-US" sz="1400" i="0" u="none" strike="noStrike" cap="none" dirty="0">
                <a:solidFill>
                  <a:schemeClr val="bg1"/>
                </a:solidFill>
                <a:latin typeface="Urbanist"/>
                <a:ea typeface="Urbanist"/>
                <a:cs typeface="Urbanist"/>
                <a:sym typeface="Urbanist"/>
              </a:rPr>
              <a:t>Seasonality Index Chart in Country Profile by month and country, with slicer in line chart</a:t>
            </a:r>
            <a:endParaRPr lang="en-US" dirty="0">
              <a:solidFill>
                <a:schemeClr val="bg1"/>
              </a:solidFill>
            </a:endParaRPr>
          </a:p>
        </p:txBody>
      </p:sp>
      <p:pic>
        <p:nvPicPr>
          <p:cNvPr id="9" name="Picture 8">
            <a:extLst>
              <a:ext uri="{FF2B5EF4-FFF2-40B4-BE49-F238E27FC236}">
                <a16:creationId xmlns:a16="http://schemas.microsoft.com/office/drawing/2014/main" id="{66CD5E60-99B3-F09B-FCED-50967B1D5DBC}"/>
              </a:ext>
            </a:extLst>
          </p:cNvPr>
          <p:cNvPicPr>
            <a:picLocks noChangeAspect="1"/>
          </p:cNvPicPr>
          <p:nvPr/>
        </p:nvPicPr>
        <p:blipFill>
          <a:blip r:embed="rId6"/>
          <a:stretch>
            <a:fillRect/>
          </a:stretch>
        </p:blipFill>
        <p:spPr>
          <a:xfrm>
            <a:off x="6243875" y="3429000"/>
            <a:ext cx="5337758" cy="2994022"/>
          </a:xfrm>
          <a:prstGeom prst="rect">
            <a:avLst/>
          </a:prstGeom>
        </p:spPr>
      </p:pic>
    </p:spTree>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Shape 244"/>
        <p:cNvGrpSpPr/>
        <p:nvPr/>
      </p:nvGrpSpPr>
      <p:grpSpPr>
        <a:xfrm>
          <a:off x="0" y="0"/>
          <a:ext cx="0" cy="0"/>
          <a:chOff x="0" y="0"/>
          <a:chExt cx="0" cy="0"/>
        </a:xfrm>
      </p:grpSpPr>
      <p:pic>
        <p:nvPicPr>
          <p:cNvPr id="245" name="Google Shape;245;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46" name="Google Shape;246;p23"/>
          <p:cNvSpPr txBox="1"/>
          <p:nvPr/>
        </p:nvSpPr>
        <p:spPr>
          <a:xfrm>
            <a:off x="571500" y="1498750"/>
            <a:ext cx="11049000" cy="4755148"/>
          </a:xfrm>
          <a:prstGeom prst="rect">
            <a:avLst/>
          </a:prstGeom>
          <a:noFill/>
          <a:ln>
            <a:noFill/>
          </a:ln>
        </p:spPr>
        <p:txBody>
          <a:bodyPr spcFirstLastPara="1" wrap="square" lIns="0" tIns="0" rIns="0" bIns="0" anchor="t" anchorCtr="0">
            <a:spAutoFit/>
          </a:bodyPr>
          <a:lstStyle/>
          <a:p>
            <a:r>
              <a:rPr lang="en-US" sz="1500" dirty="0">
                <a:solidFill>
                  <a:schemeClr val="bg1"/>
                </a:solidFill>
                <a:latin typeface="Urbanist" panose="020B0604020202020204" charset="0"/>
                <a:ea typeface="Urbanist" panose="020B0604020202020204" charset="0"/>
                <a:cs typeface="Urbanist" panose="020B0604020202020204" charset="0"/>
              </a:rPr>
              <a:t>This project successfully delivers a data-driven, interactive, and accurate tourism forecasting system with the following key outcomes:</a:t>
            </a:r>
          </a:p>
          <a:p>
            <a:endParaRPr lang="en-US" sz="1500" dirty="0">
              <a:solidFill>
                <a:schemeClr val="bg1"/>
              </a:solidFill>
              <a:latin typeface="Urbanist" panose="020B0604020202020204" charset="0"/>
              <a:ea typeface="Urbanist" panose="020B0604020202020204" charset="0"/>
              <a:cs typeface="Urbanist" panose="020B0604020202020204" charset="0"/>
            </a:endParaRPr>
          </a:p>
          <a:p>
            <a:r>
              <a:rPr lang="en-US" sz="1500" b="1" dirty="0">
                <a:solidFill>
                  <a:schemeClr val="bg1"/>
                </a:solidFill>
                <a:latin typeface="Urbanist" panose="020B0604020202020204" charset="0"/>
                <a:ea typeface="Urbanist" panose="020B0604020202020204" charset="0"/>
                <a:cs typeface="Urbanist" panose="020B0604020202020204" charset="0"/>
              </a:rPr>
              <a:t>1. Reliable Forecasting Model</a:t>
            </a:r>
          </a:p>
          <a:p>
            <a:r>
              <a:rPr lang="en-US" sz="1500" dirty="0">
                <a:solidFill>
                  <a:schemeClr val="bg1"/>
                </a:solidFill>
                <a:latin typeface="Urbanist" panose="020B0604020202020204" charset="0"/>
                <a:ea typeface="Urbanist" panose="020B0604020202020204" charset="0"/>
                <a:cs typeface="Urbanist" panose="020B0604020202020204" charset="0"/>
              </a:rPr>
              <a:t>A 6-month visitor forecast with </a:t>
            </a:r>
            <a:r>
              <a:rPr lang="en-US" sz="1500" b="1" dirty="0">
                <a:solidFill>
                  <a:schemeClr val="bg1"/>
                </a:solidFill>
                <a:latin typeface="Urbanist" panose="020B0604020202020204" charset="0"/>
                <a:ea typeface="Urbanist" panose="020B0604020202020204" charset="0"/>
                <a:cs typeface="Urbanist" panose="020B0604020202020204" charset="0"/>
              </a:rPr>
              <a:t>accuracy%</a:t>
            </a:r>
            <a:r>
              <a:rPr lang="en-US" sz="1500" dirty="0">
                <a:solidFill>
                  <a:schemeClr val="bg1"/>
                </a:solidFill>
                <a:latin typeface="Urbanist" panose="020B0604020202020204" charset="0"/>
                <a:ea typeface="Urbanist" panose="020B0604020202020204" charset="0"/>
                <a:cs typeface="Urbanist" panose="020B0604020202020204" charset="0"/>
              </a:rPr>
              <a:t>, enabling better planning for peak and off-peak seasons.</a:t>
            </a:r>
          </a:p>
          <a:p>
            <a:endParaRPr lang="en-US" sz="1500" dirty="0">
              <a:solidFill>
                <a:schemeClr val="bg1"/>
              </a:solidFill>
              <a:latin typeface="Urbanist" panose="020B0604020202020204" charset="0"/>
              <a:ea typeface="Urbanist" panose="020B0604020202020204" charset="0"/>
              <a:cs typeface="Urbanist" panose="020B0604020202020204" charset="0"/>
            </a:endParaRPr>
          </a:p>
          <a:p>
            <a:r>
              <a:rPr lang="en-US" sz="1500" b="1" dirty="0">
                <a:solidFill>
                  <a:schemeClr val="bg1"/>
                </a:solidFill>
                <a:latin typeface="Urbanist" panose="020B0604020202020204" charset="0"/>
                <a:ea typeface="Urbanist" panose="020B0604020202020204" charset="0"/>
                <a:cs typeface="Urbanist" panose="020B0604020202020204" charset="0"/>
              </a:rPr>
              <a:t>2. Clear Identification of Growth Markets</a:t>
            </a:r>
          </a:p>
          <a:p>
            <a:r>
              <a:rPr lang="en-US" sz="1500" dirty="0">
                <a:solidFill>
                  <a:schemeClr val="bg1"/>
                </a:solidFill>
                <a:latin typeface="Urbanist" panose="020B0604020202020204" charset="0"/>
                <a:ea typeface="Urbanist" panose="020B0604020202020204" charset="0"/>
                <a:cs typeface="Urbanist" panose="020B0604020202020204" charset="0"/>
              </a:rPr>
              <a:t>The dashboard highlights regions with strong YoY growth, allowing tourism boards and operators to shift focus toward high-performing countries.</a:t>
            </a:r>
          </a:p>
          <a:p>
            <a:endParaRPr lang="en-US" sz="1500" dirty="0">
              <a:solidFill>
                <a:schemeClr val="bg1"/>
              </a:solidFill>
              <a:latin typeface="Urbanist" panose="020B0604020202020204" charset="0"/>
              <a:ea typeface="Urbanist" panose="020B0604020202020204" charset="0"/>
              <a:cs typeface="Urbanist" panose="020B0604020202020204" charset="0"/>
            </a:endParaRPr>
          </a:p>
          <a:p>
            <a:r>
              <a:rPr lang="en-US" sz="1500" b="1" dirty="0">
                <a:solidFill>
                  <a:schemeClr val="bg1"/>
                </a:solidFill>
                <a:latin typeface="Urbanist" panose="020B0604020202020204" charset="0"/>
                <a:ea typeface="Urbanist" panose="020B0604020202020204" charset="0"/>
                <a:cs typeface="Urbanist" panose="020B0604020202020204" charset="0"/>
              </a:rPr>
              <a:t>3. Insights on Spending Behaviors</a:t>
            </a:r>
          </a:p>
          <a:p>
            <a:r>
              <a:rPr lang="en-US" sz="1500" dirty="0">
                <a:solidFill>
                  <a:schemeClr val="bg1"/>
                </a:solidFill>
                <a:latin typeface="Urbanist" panose="020B0604020202020204" charset="0"/>
                <a:ea typeface="Urbanist" panose="020B0604020202020204" charset="0"/>
                <a:cs typeface="Urbanist" panose="020B0604020202020204" charset="0"/>
              </a:rPr>
              <a:t>Analysis reveals the correlation between rising visitor volume and declining spend per capita, guiding policies to improve revenue yield.</a:t>
            </a:r>
          </a:p>
          <a:p>
            <a:endParaRPr lang="en-US" sz="1500" b="1" dirty="0">
              <a:solidFill>
                <a:schemeClr val="bg1"/>
              </a:solidFill>
              <a:latin typeface="Urbanist" panose="020B0604020202020204" charset="0"/>
              <a:ea typeface="Urbanist" panose="020B0604020202020204" charset="0"/>
              <a:cs typeface="Urbanist" panose="020B0604020202020204" charset="0"/>
            </a:endParaRPr>
          </a:p>
          <a:p>
            <a:r>
              <a:rPr lang="en-US" sz="1500" b="1" dirty="0">
                <a:solidFill>
                  <a:schemeClr val="bg1"/>
                </a:solidFill>
                <a:latin typeface="Urbanist" panose="020B0604020202020204" charset="0"/>
                <a:ea typeface="Urbanist" panose="020B0604020202020204" charset="0"/>
                <a:cs typeface="Urbanist" panose="020B0604020202020204" charset="0"/>
              </a:rPr>
              <a:t>4. Seasonality Insights</a:t>
            </a:r>
          </a:p>
          <a:p>
            <a:r>
              <a:rPr lang="en-US" sz="1500" dirty="0">
                <a:solidFill>
                  <a:schemeClr val="bg1"/>
                </a:solidFill>
                <a:latin typeface="Urbanist" panose="020B0604020202020204" charset="0"/>
                <a:ea typeface="Urbanist" panose="020B0604020202020204" charset="0"/>
                <a:cs typeface="Urbanist" panose="020B0604020202020204" charset="0"/>
              </a:rPr>
              <a:t>A detailed seasonality index exposes predictable monthly patterns, helping stakeholders prepare resources, staffing, and inventory.</a:t>
            </a:r>
          </a:p>
          <a:p>
            <a:endParaRPr lang="en-US" sz="1500" b="1" dirty="0">
              <a:solidFill>
                <a:schemeClr val="bg1"/>
              </a:solidFill>
              <a:latin typeface="Urbanist" panose="020B0604020202020204" charset="0"/>
              <a:ea typeface="Urbanist" panose="020B0604020202020204" charset="0"/>
              <a:cs typeface="Urbanist" panose="020B0604020202020204" charset="0"/>
            </a:endParaRPr>
          </a:p>
          <a:p>
            <a:r>
              <a:rPr lang="en-US" sz="1500" b="1" dirty="0">
                <a:solidFill>
                  <a:schemeClr val="bg1"/>
                </a:solidFill>
                <a:latin typeface="Urbanist" panose="020B0604020202020204" charset="0"/>
                <a:ea typeface="Urbanist" panose="020B0604020202020204" charset="0"/>
                <a:cs typeface="Urbanist" panose="020B0604020202020204" charset="0"/>
              </a:rPr>
              <a:t>5. Interactive Decision-Support Dashboard</a:t>
            </a:r>
          </a:p>
          <a:p>
            <a:r>
              <a:rPr lang="en-US" sz="1500" dirty="0">
                <a:solidFill>
                  <a:schemeClr val="bg1"/>
                </a:solidFill>
                <a:latin typeface="Urbanist" panose="020B0604020202020204" charset="0"/>
                <a:ea typeface="Urbanist" panose="020B0604020202020204" charset="0"/>
                <a:cs typeface="Urbanist" panose="020B0604020202020204" charset="0"/>
              </a:rPr>
              <a:t>The Power BI dashboard enables stakeholders to explore trends, compare regions, and perform real-time analysis.</a:t>
            </a:r>
          </a:p>
          <a:p>
            <a:pPr lvl="0" algn="ctr">
              <a:lnSpc>
                <a:spcPct val="160000"/>
              </a:lnSpc>
            </a:pPr>
            <a:endParaRPr sz="1500" dirty="0">
              <a:solidFill>
                <a:schemeClr val="bg1"/>
              </a:solidFill>
              <a:latin typeface="Urbanist" panose="020B0604020202020204" charset="0"/>
              <a:ea typeface="Urbanist" panose="020B0604020202020204" charset="0"/>
              <a:cs typeface="Urbanist" panose="020B0604020202020204" charset="0"/>
            </a:endParaRPr>
          </a:p>
        </p:txBody>
      </p:sp>
      <p:sp>
        <p:nvSpPr>
          <p:cNvPr id="253" name="Google Shape;253;p23"/>
          <p:cNvSpPr txBox="1"/>
          <p:nvPr/>
        </p:nvSpPr>
        <p:spPr>
          <a:xfrm>
            <a:off x="571500" y="571500"/>
            <a:ext cx="11601450" cy="609398"/>
          </a:xfrm>
          <a:prstGeom prst="rect">
            <a:avLst/>
          </a:prstGeom>
          <a:noFill/>
          <a:ln>
            <a:noFill/>
          </a:ln>
        </p:spPr>
        <p:txBody>
          <a:bodyPr spcFirstLastPara="1" wrap="square" lIns="0" tIns="0" rIns="0" bIns="0" anchor="t" anchorCtr="0">
            <a:spAutoFit/>
          </a:bodyPr>
          <a:lstStyle/>
          <a:p>
            <a:pPr marL="0" marR="0" lvl="0" indent="0" algn="l" rtl="0">
              <a:lnSpc>
                <a:spcPct val="109972"/>
              </a:lnSpc>
              <a:spcBef>
                <a:spcPts val="0"/>
              </a:spcBef>
              <a:spcAft>
                <a:spcPts val="0"/>
              </a:spcAft>
              <a:buNone/>
            </a:pPr>
            <a:r>
              <a:rPr lang="en-US" sz="3600" b="1" i="0" u="none" strike="noStrike" cap="none" dirty="0">
                <a:solidFill>
                  <a:srgbClr val="60A5FA"/>
                </a:solidFill>
                <a:latin typeface="Urbanist"/>
                <a:ea typeface="Urbanist"/>
                <a:cs typeface="Urbanist"/>
                <a:sym typeface="Urbanist"/>
              </a:rPr>
              <a:t>Outcome Summary</a:t>
            </a:r>
            <a:endParaRPr lang="en-US" dirty="0"/>
          </a:p>
        </p:txBody>
      </p:sp>
      <p:sp>
        <p:nvSpPr>
          <p:cNvPr id="254" name="Google Shape;254;p23"/>
          <p:cNvSpPr/>
          <p:nvPr/>
        </p:nvSpPr>
        <p:spPr>
          <a:xfrm>
            <a:off x="571500" y="1217265"/>
            <a:ext cx="11049000" cy="19050"/>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Shape 244">
          <a:extLst>
            <a:ext uri="{FF2B5EF4-FFF2-40B4-BE49-F238E27FC236}">
              <a16:creationId xmlns:a16="http://schemas.microsoft.com/office/drawing/2014/main" id="{A03A886B-385D-0409-2D97-05AAA71ED8D5}"/>
            </a:ext>
          </a:extLst>
        </p:cNvPr>
        <p:cNvGrpSpPr/>
        <p:nvPr/>
      </p:nvGrpSpPr>
      <p:grpSpPr>
        <a:xfrm>
          <a:off x="0" y="0"/>
          <a:ext cx="0" cy="0"/>
          <a:chOff x="0" y="0"/>
          <a:chExt cx="0" cy="0"/>
        </a:xfrm>
      </p:grpSpPr>
      <p:pic>
        <p:nvPicPr>
          <p:cNvPr id="245" name="Google Shape;245;p23" descr="image.png">
            <a:extLst>
              <a:ext uri="{FF2B5EF4-FFF2-40B4-BE49-F238E27FC236}">
                <a16:creationId xmlns:a16="http://schemas.microsoft.com/office/drawing/2014/main" id="{2CB5405C-EA00-D879-D301-1D825EA01DE2}"/>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46" name="Google Shape;246;p23">
            <a:extLst>
              <a:ext uri="{FF2B5EF4-FFF2-40B4-BE49-F238E27FC236}">
                <a16:creationId xmlns:a16="http://schemas.microsoft.com/office/drawing/2014/main" id="{08F0B1A9-97EE-5F79-27F4-2F0A3F9A3C11}"/>
              </a:ext>
            </a:extLst>
          </p:cNvPr>
          <p:cNvSpPr txBox="1"/>
          <p:nvPr/>
        </p:nvSpPr>
        <p:spPr>
          <a:xfrm>
            <a:off x="571499" y="1498750"/>
            <a:ext cx="11048999" cy="4632037"/>
          </a:xfrm>
          <a:prstGeom prst="rect">
            <a:avLst/>
          </a:prstGeom>
          <a:noFill/>
          <a:ln>
            <a:noFill/>
          </a:ln>
        </p:spPr>
        <p:txBody>
          <a:bodyPr spcFirstLastPara="1" wrap="square" lIns="0" tIns="0" rIns="0" bIns="0" anchor="t" anchorCtr="0">
            <a:spAutoFit/>
          </a:bodyPr>
          <a:lstStyle/>
          <a:p>
            <a:endParaRPr lang="en-US" sz="1500" dirty="0">
              <a:solidFill>
                <a:schemeClr val="bg1"/>
              </a:solidFill>
              <a:latin typeface="Urbanist" panose="020B0604020202020204" charset="0"/>
              <a:ea typeface="Urbanist" panose="020B0604020202020204" charset="0"/>
              <a:cs typeface="Urbanist" panose="020B0604020202020204" charset="0"/>
            </a:endParaRPr>
          </a:p>
          <a:p>
            <a:r>
              <a:rPr lang="en-US" sz="1500" dirty="0">
                <a:solidFill>
                  <a:schemeClr val="bg1"/>
                </a:solidFill>
                <a:latin typeface="Urbanist" panose="020B0604020202020204" charset="0"/>
                <a:ea typeface="Urbanist" panose="020B0604020202020204" charset="0"/>
                <a:cs typeface="Urbanist" panose="020B0604020202020204" charset="0"/>
              </a:rPr>
              <a:t>The Growth-Markets chart shows that specific countries consistently outperform others in YoY growth, indicating targeted marketing opportunities instead of uniform spending.</a:t>
            </a:r>
          </a:p>
          <a:p>
            <a:endParaRPr lang="en-US" sz="1500" dirty="0">
              <a:solidFill>
                <a:schemeClr val="bg1"/>
              </a:solidFill>
              <a:latin typeface="Urbanist" panose="020B0604020202020204" charset="0"/>
              <a:ea typeface="Urbanist" panose="020B0604020202020204" charset="0"/>
              <a:cs typeface="Urbanist" panose="020B0604020202020204" charset="0"/>
            </a:endParaRPr>
          </a:p>
          <a:p>
            <a:endParaRPr lang="en-US" sz="1500" dirty="0">
              <a:solidFill>
                <a:schemeClr val="bg1"/>
              </a:solidFill>
              <a:latin typeface="Urbanist" panose="020B0604020202020204" charset="0"/>
              <a:ea typeface="Urbanist" panose="020B0604020202020204" charset="0"/>
              <a:cs typeface="Urbanist" panose="020B0604020202020204" charset="0"/>
            </a:endParaRPr>
          </a:p>
          <a:p>
            <a:r>
              <a:rPr lang="en-US" sz="1500" dirty="0">
                <a:solidFill>
                  <a:schemeClr val="bg1"/>
                </a:solidFill>
                <a:latin typeface="Urbanist" panose="020B0604020202020204" charset="0"/>
                <a:ea typeface="Urbanist" panose="020B0604020202020204" charset="0"/>
                <a:cs typeface="Urbanist" panose="020B0604020202020204" charset="0"/>
              </a:rPr>
              <a:t>The Seasonality Index clearly identifies predictable peak and off-peak periods, enabling better workforce and infrastructure planning.</a:t>
            </a:r>
          </a:p>
          <a:p>
            <a:endParaRPr lang="en-US" sz="1500" dirty="0">
              <a:solidFill>
                <a:schemeClr val="bg1"/>
              </a:solidFill>
              <a:latin typeface="Urbanist" panose="020B0604020202020204" charset="0"/>
              <a:ea typeface="Urbanist" panose="020B0604020202020204" charset="0"/>
              <a:cs typeface="Urbanist" panose="020B0604020202020204" charset="0"/>
            </a:endParaRPr>
          </a:p>
          <a:p>
            <a:endParaRPr lang="en-US" sz="1500" dirty="0">
              <a:solidFill>
                <a:schemeClr val="bg1"/>
              </a:solidFill>
              <a:latin typeface="Urbanist" panose="020B0604020202020204" charset="0"/>
              <a:ea typeface="Urbanist" panose="020B0604020202020204" charset="0"/>
              <a:cs typeface="Urbanist" panose="020B0604020202020204" charset="0"/>
            </a:endParaRPr>
          </a:p>
          <a:p>
            <a:r>
              <a:rPr lang="en-US" sz="1500" dirty="0">
                <a:solidFill>
                  <a:schemeClr val="bg1"/>
                </a:solidFill>
                <a:latin typeface="Urbanist" panose="020B0604020202020204" charset="0"/>
                <a:ea typeface="Urbanist" panose="020B0604020202020204" charset="0"/>
                <a:cs typeface="Urbanist" panose="020B0604020202020204" charset="0"/>
              </a:rPr>
              <a:t>The Arrivals vs Spend correlation reveals that higher fall does not always indicates to higher per-capita revenue, supporting a </a:t>
            </a:r>
            <a:r>
              <a:rPr lang="en-US" sz="1500" b="1" dirty="0">
                <a:solidFill>
                  <a:schemeClr val="bg1"/>
                </a:solidFill>
                <a:latin typeface="Urbanist" panose="020B0604020202020204" charset="0"/>
                <a:ea typeface="Urbanist" panose="020B0604020202020204" charset="0"/>
                <a:cs typeface="Urbanist" panose="020B0604020202020204" charset="0"/>
              </a:rPr>
              <a:t>value-over-volume strategy</a:t>
            </a:r>
            <a:r>
              <a:rPr lang="en-US" sz="1500" dirty="0">
                <a:solidFill>
                  <a:schemeClr val="bg1"/>
                </a:solidFill>
                <a:latin typeface="Urbanist" panose="020B0604020202020204" charset="0"/>
                <a:ea typeface="Urbanist" panose="020B0604020202020204" charset="0"/>
                <a:cs typeface="Urbanist" panose="020B0604020202020204" charset="0"/>
              </a:rPr>
              <a:t>.</a:t>
            </a:r>
            <a:r>
              <a:rPr lang="en-US" sz="1600" dirty="0"/>
              <a:t> </a:t>
            </a:r>
          </a:p>
          <a:p>
            <a:r>
              <a:rPr lang="en-US" sz="1500" dirty="0">
                <a:solidFill>
                  <a:schemeClr val="bg1"/>
                </a:solidFill>
                <a:latin typeface="Urbanist" panose="020B0604020202020204" charset="0"/>
                <a:ea typeface="Urbanist" panose="020B0604020202020204" charset="0"/>
                <a:cs typeface="Urbanist" panose="020B0604020202020204" charset="0"/>
              </a:rPr>
              <a:t>The Arrivals vs Spend correlation shows that an increase in the number of visitors does not always lead to a proportional increase in per-capita spending. destinations receive high tourist volumes, but the average spend per visitor remains low.</a:t>
            </a:r>
          </a:p>
          <a:p>
            <a:r>
              <a:rPr lang="en-US" sz="1500" dirty="0">
                <a:solidFill>
                  <a:schemeClr val="bg1"/>
                </a:solidFill>
                <a:latin typeface="Urbanist" panose="020B0604020202020204" charset="0"/>
                <a:ea typeface="Urbanist" panose="020B0604020202020204" charset="0"/>
                <a:cs typeface="Urbanist" panose="020B0604020202020204" charset="0"/>
              </a:rPr>
              <a:t>This usually happens when tourism is dominated by budget travelers, short stays, or mass tourism.</a:t>
            </a:r>
          </a:p>
          <a:p>
            <a:endParaRPr lang="en-US" sz="1500" dirty="0">
              <a:solidFill>
                <a:schemeClr val="bg1"/>
              </a:solidFill>
              <a:latin typeface="Urbanist" panose="020B0604020202020204" charset="0"/>
              <a:ea typeface="Urbanist" panose="020B0604020202020204" charset="0"/>
              <a:cs typeface="Urbanist" panose="020B0604020202020204" charset="0"/>
            </a:endParaRPr>
          </a:p>
          <a:p>
            <a:endParaRPr lang="en-US" sz="1500" dirty="0">
              <a:solidFill>
                <a:schemeClr val="bg1"/>
              </a:solidFill>
              <a:latin typeface="Urbanist" panose="020B0604020202020204" charset="0"/>
              <a:ea typeface="Urbanist" panose="020B0604020202020204" charset="0"/>
              <a:cs typeface="Urbanist" panose="020B0604020202020204" charset="0"/>
            </a:endParaRPr>
          </a:p>
          <a:p>
            <a:r>
              <a:rPr lang="en-US" sz="1500" dirty="0">
                <a:solidFill>
                  <a:schemeClr val="bg1"/>
                </a:solidFill>
                <a:latin typeface="Urbanist" panose="020B0604020202020204" charset="0"/>
                <a:ea typeface="Urbanist" panose="020B0604020202020204" charset="0"/>
                <a:cs typeface="Urbanist" panose="020B0604020202020204" charset="0"/>
              </a:rPr>
              <a:t>The 6-month forecast trend provides advance visibility into demand fluctuations, helping tourism authorities prepare budgets and capacity proactively.</a:t>
            </a:r>
          </a:p>
          <a:p>
            <a:endParaRPr lang="en-US" sz="1500" dirty="0">
              <a:solidFill>
                <a:schemeClr val="bg1"/>
              </a:solidFill>
              <a:latin typeface="Urbanist" panose="020B0604020202020204" charset="0"/>
              <a:ea typeface="Urbanist" panose="020B0604020202020204" charset="0"/>
              <a:cs typeface="Urbanist" panose="020B0604020202020204" charset="0"/>
            </a:endParaRPr>
          </a:p>
          <a:p>
            <a:endParaRPr lang="en-US" sz="1500" dirty="0">
              <a:solidFill>
                <a:schemeClr val="bg1"/>
              </a:solidFill>
              <a:latin typeface="Urbanist" panose="020B0604020202020204" charset="0"/>
              <a:ea typeface="Urbanist" panose="020B0604020202020204" charset="0"/>
              <a:cs typeface="Urbanist" panose="020B0604020202020204" charset="0"/>
            </a:endParaRPr>
          </a:p>
        </p:txBody>
      </p:sp>
      <p:sp>
        <p:nvSpPr>
          <p:cNvPr id="253" name="Google Shape;253;p23">
            <a:extLst>
              <a:ext uri="{FF2B5EF4-FFF2-40B4-BE49-F238E27FC236}">
                <a16:creationId xmlns:a16="http://schemas.microsoft.com/office/drawing/2014/main" id="{9765C92C-A4BC-907E-51CC-A5AF3B35ABD4}"/>
              </a:ext>
            </a:extLst>
          </p:cNvPr>
          <p:cNvSpPr txBox="1"/>
          <p:nvPr/>
        </p:nvSpPr>
        <p:spPr>
          <a:xfrm>
            <a:off x="571500" y="571500"/>
            <a:ext cx="11601450" cy="609398"/>
          </a:xfrm>
          <a:prstGeom prst="rect">
            <a:avLst/>
          </a:prstGeom>
          <a:noFill/>
          <a:ln>
            <a:noFill/>
          </a:ln>
        </p:spPr>
        <p:txBody>
          <a:bodyPr spcFirstLastPara="1" wrap="square" lIns="0" tIns="0" rIns="0" bIns="0" anchor="t" anchorCtr="0">
            <a:spAutoFit/>
          </a:bodyPr>
          <a:lstStyle/>
          <a:p>
            <a:pPr marL="0" marR="0" lvl="0" indent="0" algn="l" rtl="0">
              <a:lnSpc>
                <a:spcPct val="109972"/>
              </a:lnSpc>
              <a:spcBef>
                <a:spcPts val="0"/>
              </a:spcBef>
              <a:spcAft>
                <a:spcPts val="0"/>
              </a:spcAft>
              <a:buNone/>
            </a:pPr>
            <a:r>
              <a:rPr lang="en-US" sz="3600" b="1" i="0" u="none" strike="noStrike" cap="none" dirty="0">
                <a:solidFill>
                  <a:srgbClr val="60A5FA"/>
                </a:solidFill>
                <a:latin typeface="Urbanist"/>
                <a:ea typeface="Urbanist"/>
                <a:cs typeface="Urbanist"/>
                <a:sym typeface="Urbanist"/>
              </a:rPr>
              <a:t>Findings</a:t>
            </a:r>
            <a:endParaRPr lang="en-US" dirty="0"/>
          </a:p>
        </p:txBody>
      </p:sp>
      <p:sp>
        <p:nvSpPr>
          <p:cNvPr id="254" name="Google Shape;254;p23">
            <a:extLst>
              <a:ext uri="{FF2B5EF4-FFF2-40B4-BE49-F238E27FC236}">
                <a16:creationId xmlns:a16="http://schemas.microsoft.com/office/drawing/2014/main" id="{B07B1B3E-9913-7204-86B8-7A5769C5C8BD}"/>
              </a:ext>
            </a:extLst>
          </p:cNvPr>
          <p:cNvSpPr/>
          <p:nvPr/>
        </p:nvSpPr>
        <p:spPr>
          <a:xfrm>
            <a:off x="571500" y="1217265"/>
            <a:ext cx="11049000" cy="19050"/>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31156490"/>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Shape 244">
          <a:extLst>
            <a:ext uri="{FF2B5EF4-FFF2-40B4-BE49-F238E27FC236}">
              <a16:creationId xmlns:a16="http://schemas.microsoft.com/office/drawing/2014/main" id="{D2E4856A-640E-56AD-3F9F-57778E367870}"/>
            </a:ext>
          </a:extLst>
        </p:cNvPr>
        <p:cNvGrpSpPr/>
        <p:nvPr/>
      </p:nvGrpSpPr>
      <p:grpSpPr>
        <a:xfrm>
          <a:off x="0" y="0"/>
          <a:ext cx="0" cy="0"/>
          <a:chOff x="0" y="0"/>
          <a:chExt cx="0" cy="0"/>
        </a:xfrm>
      </p:grpSpPr>
      <p:pic>
        <p:nvPicPr>
          <p:cNvPr id="245" name="Google Shape;245;p23" descr="image.png">
            <a:extLst>
              <a:ext uri="{FF2B5EF4-FFF2-40B4-BE49-F238E27FC236}">
                <a16:creationId xmlns:a16="http://schemas.microsoft.com/office/drawing/2014/main" id="{EED68F0F-ABA4-44F7-3320-C0DBB5CF717C}"/>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46" name="Google Shape;246;p23">
            <a:extLst>
              <a:ext uri="{FF2B5EF4-FFF2-40B4-BE49-F238E27FC236}">
                <a16:creationId xmlns:a16="http://schemas.microsoft.com/office/drawing/2014/main" id="{7933869E-6346-F879-1F80-3689CEAA245F}"/>
              </a:ext>
            </a:extLst>
          </p:cNvPr>
          <p:cNvSpPr txBox="1"/>
          <p:nvPr/>
        </p:nvSpPr>
        <p:spPr>
          <a:xfrm>
            <a:off x="571500" y="1540558"/>
            <a:ext cx="10899140" cy="3000821"/>
          </a:xfrm>
          <a:prstGeom prst="rect">
            <a:avLst/>
          </a:prstGeom>
          <a:noFill/>
          <a:ln>
            <a:noFill/>
          </a:ln>
        </p:spPr>
        <p:txBody>
          <a:bodyPr spcFirstLastPara="1" wrap="square" lIns="0" tIns="0" rIns="0" bIns="0" anchor="t" anchorCtr="0">
            <a:spAutoFit/>
          </a:bodyPr>
          <a:lstStyle/>
          <a:p>
            <a:r>
              <a:rPr lang="en-US" sz="1500" b="1" dirty="0">
                <a:solidFill>
                  <a:schemeClr val="bg1"/>
                </a:solidFill>
                <a:latin typeface="Urbanist" panose="020B0604020202020204" charset="0"/>
                <a:ea typeface="Urbanist" panose="020B0604020202020204" charset="0"/>
                <a:cs typeface="Urbanist" panose="020B0604020202020204" charset="0"/>
              </a:rPr>
              <a:t>1. Combating Overtourism &amp; Infrastructure Pressure</a:t>
            </a:r>
          </a:p>
          <a:p>
            <a:r>
              <a:rPr lang="en-US" sz="1500" dirty="0">
                <a:solidFill>
                  <a:schemeClr val="bg1"/>
                </a:solidFill>
                <a:latin typeface="Urbanist" panose="020B0604020202020204" charset="0"/>
                <a:ea typeface="Urbanist" panose="020B0604020202020204" charset="0"/>
                <a:cs typeface="Urbanist" panose="020B0604020202020204" charset="0"/>
              </a:rPr>
              <a:t>Too many tourists can overload water, electricity, and transport.</a:t>
            </a:r>
          </a:p>
          <a:p>
            <a:r>
              <a:rPr lang="en-US" sz="1500" dirty="0">
                <a:solidFill>
                  <a:schemeClr val="bg1"/>
                </a:solidFill>
                <a:latin typeface="Urbanist" panose="020B0604020202020204" charset="0"/>
                <a:ea typeface="Urbanist" panose="020B0604020202020204" charset="0"/>
                <a:cs typeface="Urbanist" panose="020B0604020202020204" charset="0"/>
              </a:rPr>
              <a:t>Forecasting visitors helps the government to control crowds and protect local facilities.</a:t>
            </a:r>
          </a:p>
          <a:p>
            <a:br>
              <a:rPr lang="en-US" sz="1500" dirty="0">
                <a:solidFill>
                  <a:schemeClr val="bg1"/>
                </a:solidFill>
                <a:latin typeface="Urbanist" panose="020B0604020202020204" charset="0"/>
                <a:ea typeface="Urbanist" panose="020B0604020202020204" charset="0"/>
                <a:cs typeface="Urbanist" panose="020B0604020202020204" charset="0"/>
              </a:rPr>
            </a:br>
            <a:endParaRPr lang="en-US" sz="1500" dirty="0">
              <a:solidFill>
                <a:schemeClr val="bg1"/>
              </a:solidFill>
              <a:latin typeface="Urbanist" panose="020B0604020202020204" charset="0"/>
              <a:ea typeface="Urbanist" panose="020B0604020202020204" charset="0"/>
              <a:cs typeface="Urbanist" panose="020B0604020202020204" charset="0"/>
            </a:endParaRPr>
          </a:p>
          <a:p>
            <a:r>
              <a:rPr lang="en-US" sz="1500" b="1" dirty="0">
                <a:solidFill>
                  <a:schemeClr val="bg1"/>
                </a:solidFill>
                <a:latin typeface="Urbanist" panose="020B0604020202020204" charset="0"/>
                <a:ea typeface="Urbanist" panose="020B0604020202020204" charset="0"/>
                <a:cs typeface="Urbanist" panose="020B0604020202020204" charset="0"/>
              </a:rPr>
              <a:t>2. Enhancing Job Security for Locals</a:t>
            </a:r>
          </a:p>
          <a:p>
            <a:r>
              <a:rPr lang="en-US" sz="1500" dirty="0">
                <a:solidFill>
                  <a:schemeClr val="bg1"/>
                </a:solidFill>
                <a:latin typeface="Urbanist" panose="020B0604020202020204" charset="0"/>
                <a:ea typeface="Urbanist" panose="020B0604020202020204" charset="0"/>
                <a:cs typeface="Urbanist" panose="020B0604020202020204" charset="0"/>
              </a:rPr>
              <a:t>Tourism changes a lot with seasons.</a:t>
            </a:r>
          </a:p>
          <a:p>
            <a:r>
              <a:rPr lang="en-US" sz="1500" dirty="0">
                <a:solidFill>
                  <a:schemeClr val="bg1"/>
                </a:solidFill>
                <a:latin typeface="Urbanist" panose="020B0604020202020204" charset="0"/>
                <a:ea typeface="Urbanist" panose="020B0604020202020204" charset="0"/>
                <a:cs typeface="Urbanist" panose="020B0604020202020204" charset="0"/>
              </a:rPr>
              <a:t>Seasonality analysis helps businesses plan staff earlier and give more stable jobs.</a:t>
            </a:r>
          </a:p>
          <a:p>
            <a:br>
              <a:rPr lang="en-US" sz="1500" dirty="0">
                <a:solidFill>
                  <a:schemeClr val="bg1"/>
                </a:solidFill>
                <a:latin typeface="Urbanist" panose="020B0604020202020204" charset="0"/>
                <a:ea typeface="Urbanist" panose="020B0604020202020204" charset="0"/>
                <a:cs typeface="Urbanist" panose="020B0604020202020204" charset="0"/>
              </a:rPr>
            </a:br>
            <a:endParaRPr lang="en-US" sz="1500" dirty="0">
              <a:solidFill>
                <a:schemeClr val="bg1"/>
              </a:solidFill>
              <a:latin typeface="Urbanist" panose="020B0604020202020204" charset="0"/>
              <a:ea typeface="Urbanist" panose="020B0604020202020204" charset="0"/>
              <a:cs typeface="Urbanist" panose="020B0604020202020204" charset="0"/>
            </a:endParaRPr>
          </a:p>
          <a:p>
            <a:r>
              <a:rPr lang="en-US" sz="1500" b="1" dirty="0">
                <a:solidFill>
                  <a:schemeClr val="bg1"/>
                </a:solidFill>
                <a:latin typeface="Urbanist" panose="020B0604020202020204" charset="0"/>
                <a:ea typeface="Urbanist" panose="020B0604020202020204" charset="0"/>
                <a:cs typeface="Urbanist" panose="020B0604020202020204" charset="0"/>
              </a:rPr>
              <a:t>3. Data-Driven Public Policy</a:t>
            </a:r>
          </a:p>
          <a:p>
            <a:r>
              <a:rPr lang="en-US" sz="1500" dirty="0">
                <a:solidFill>
                  <a:schemeClr val="bg1"/>
                </a:solidFill>
                <a:latin typeface="Urbanist" panose="020B0604020202020204" charset="0"/>
                <a:ea typeface="Urbanist" panose="020B0604020202020204" charset="0"/>
                <a:cs typeface="Urbanist" panose="020B0604020202020204" charset="0"/>
              </a:rPr>
              <a:t>Sometimes policies fail because there is not enough data.</a:t>
            </a:r>
          </a:p>
          <a:p>
            <a:r>
              <a:rPr lang="en-US" sz="1500" dirty="0">
                <a:solidFill>
                  <a:schemeClr val="bg1"/>
                </a:solidFill>
                <a:latin typeface="Urbanist" panose="020B0604020202020204" charset="0"/>
                <a:ea typeface="Urbanist" panose="020B0604020202020204" charset="0"/>
                <a:cs typeface="Urbanist" panose="020B0604020202020204" charset="0"/>
              </a:rPr>
              <a:t>This dashboard gives clear data to help the government invest in the right places</a:t>
            </a:r>
          </a:p>
        </p:txBody>
      </p:sp>
      <p:sp>
        <p:nvSpPr>
          <p:cNvPr id="253" name="Google Shape;253;p23">
            <a:extLst>
              <a:ext uri="{FF2B5EF4-FFF2-40B4-BE49-F238E27FC236}">
                <a16:creationId xmlns:a16="http://schemas.microsoft.com/office/drawing/2014/main" id="{261A9E3A-7A0A-E568-2653-089AF2FA047C}"/>
              </a:ext>
            </a:extLst>
          </p:cNvPr>
          <p:cNvSpPr txBox="1"/>
          <p:nvPr/>
        </p:nvSpPr>
        <p:spPr>
          <a:xfrm>
            <a:off x="571500" y="571500"/>
            <a:ext cx="11601450" cy="609398"/>
          </a:xfrm>
          <a:prstGeom prst="rect">
            <a:avLst/>
          </a:prstGeom>
          <a:noFill/>
          <a:ln>
            <a:noFill/>
          </a:ln>
        </p:spPr>
        <p:txBody>
          <a:bodyPr spcFirstLastPara="1" wrap="square" lIns="0" tIns="0" rIns="0" bIns="0" anchor="t" anchorCtr="0">
            <a:spAutoFit/>
          </a:bodyPr>
          <a:lstStyle/>
          <a:p>
            <a:pPr lvl="0">
              <a:lnSpc>
                <a:spcPct val="109972"/>
              </a:lnSpc>
            </a:pPr>
            <a:r>
              <a:rPr lang="en-IN" sz="3600" b="1" dirty="0">
                <a:solidFill>
                  <a:schemeClr val="bg2">
                    <a:lumMod val="60000"/>
                    <a:lumOff val="40000"/>
                  </a:schemeClr>
                </a:solidFill>
                <a:latin typeface="Urbanist" panose="020B0604020202020204" charset="0"/>
                <a:ea typeface="Urbanist" panose="020B0604020202020204" charset="0"/>
                <a:cs typeface="Urbanist" panose="020B0604020202020204" charset="0"/>
              </a:rPr>
              <a:t>Social Relevance &amp; Community Impact</a:t>
            </a:r>
            <a:endParaRPr lang="en-US" sz="3600" b="1" dirty="0">
              <a:solidFill>
                <a:schemeClr val="bg2">
                  <a:lumMod val="60000"/>
                  <a:lumOff val="40000"/>
                </a:schemeClr>
              </a:solidFill>
              <a:latin typeface="Urbanist" panose="020B0604020202020204" charset="0"/>
              <a:ea typeface="Urbanist" panose="020B0604020202020204" charset="0"/>
              <a:cs typeface="Urbanist" panose="020B0604020202020204" charset="0"/>
            </a:endParaRPr>
          </a:p>
        </p:txBody>
      </p:sp>
      <p:sp>
        <p:nvSpPr>
          <p:cNvPr id="254" name="Google Shape;254;p23">
            <a:extLst>
              <a:ext uri="{FF2B5EF4-FFF2-40B4-BE49-F238E27FC236}">
                <a16:creationId xmlns:a16="http://schemas.microsoft.com/office/drawing/2014/main" id="{CA6CDB70-E6E9-D15F-E7C8-8BF5FDB559A6}"/>
              </a:ext>
            </a:extLst>
          </p:cNvPr>
          <p:cNvSpPr/>
          <p:nvPr/>
        </p:nvSpPr>
        <p:spPr>
          <a:xfrm>
            <a:off x="571500" y="1217265"/>
            <a:ext cx="11049000" cy="19050"/>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097473922"/>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Shape 292"/>
        <p:cNvGrpSpPr/>
        <p:nvPr/>
      </p:nvGrpSpPr>
      <p:grpSpPr>
        <a:xfrm>
          <a:off x="0" y="0"/>
          <a:ext cx="0" cy="0"/>
          <a:chOff x="0" y="0"/>
          <a:chExt cx="0" cy="0"/>
        </a:xfrm>
      </p:grpSpPr>
      <p:pic>
        <p:nvPicPr>
          <p:cNvPr id="293" name="Google Shape;293;p26"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94" name="Google Shape;294;p26"/>
          <p:cNvSpPr txBox="1"/>
          <p:nvPr/>
        </p:nvSpPr>
        <p:spPr>
          <a:xfrm>
            <a:off x="2095500" y="1442293"/>
            <a:ext cx="8001000" cy="75426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5400" b="1" i="0" u="none" strike="noStrike" cap="none">
                <a:solidFill>
                  <a:srgbClr val="F5F5F5"/>
                </a:solidFill>
                <a:latin typeface="Urbanist"/>
                <a:ea typeface="Urbanist"/>
                <a:cs typeface="Urbanist"/>
                <a:sym typeface="Urbanist"/>
              </a:rPr>
              <a:t>Conclusion</a:t>
            </a:r>
            <a:endParaRPr/>
          </a:p>
        </p:txBody>
      </p:sp>
      <p:sp>
        <p:nvSpPr>
          <p:cNvPr id="295" name="Google Shape;295;p26"/>
          <p:cNvSpPr txBox="1"/>
          <p:nvPr/>
        </p:nvSpPr>
        <p:spPr>
          <a:xfrm>
            <a:off x="2286000" y="2615654"/>
            <a:ext cx="7620000" cy="1329595"/>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0" i="0" u="none" strike="noStrike" cap="none" dirty="0">
                <a:solidFill>
                  <a:srgbClr val="9CA3AF"/>
                </a:solidFill>
                <a:latin typeface="Urbanist"/>
                <a:ea typeface="Urbanist"/>
                <a:cs typeface="Urbanist"/>
                <a:sym typeface="Urbanist"/>
              </a:rPr>
              <a:t>By leveraging a Star Schema architecture and forecasting, we have provided a reliable 6-month outlook. The insights clearly dictate a pivot towards value-over-volume strategies.</a:t>
            </a:r>
            <a:endParaRPr dirty="0"/>
          </a:p>
        </p:txBody>
      </p:sp>
      <p:sp>
        <p:nvSpPr>
          <p:cNvPr id="296" name="Google Shape;296;p26"/>
          <p:cNvSpPr txBox="1"/>
          <p:nvPr/>
        </p:nvSpPr>
        <p:spPr>
          <a:xfrm>
            <a:off x="2286000" y="4522291"/>
            <a:ext cx="7620000"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1" i="0" u="none" strike="noStrike" cap="none">
                <a:solidFill>
                  <a:srgbClr val="E5E5E5"/>
                </a:solidFill>
                <a:latin typeface="Urbanist"/>
                <a:ea typeface="Urbanist"/>
                <a:cs typeface="Urbanist"/>
                <a:sym typeface="Urbanist"/>
              </a:rPr>
              <a:t>Q &amp; A</a:t>
            </a:r>
            <a:endParaRPr/>
          </a:p>
        </p:txBody>
      </p:sp>
      <p:sp>
        <p:nvSpPr>
          <p:cNvPr id="297" name="Google Shape;297;p26"/>
          <p:cNvSpPr txBox="1"/>
          <p:nvPr/>
        </p:nvSpPr>
        <p:spPr>
          <a:xfrm>
            <a:off x="2476500" y="4927421"/>
            <a:ext cx="7620000" cy="332399"/>
          </a:xfrm>
          <a:prstGeom prst="rect">
            <a:avLst/>
          </a:prstGeom>
          <a:noFill/>
          <a:ln>
            <a:noFill/>
          </a:ln>
        </p:spPr>
        <p:txBody>
          <a:bodyPr spcFirstLastPara="1" wrap="square" lIns="0" tIns="0" rIns="0" bIns="0" anchor="t" anchorCtr="0">
            <a:spAutoFit/>
          </a:bodyPr>
          <a:lstStyle/>
          <a:p>
            <a:pPr lvl="0" algn="ctr">
              <a:lnSpc>
                <a:spcPct val="160000"/>
              </a:lnSpc>
            </a:pPr>
            <a:r>
              <a:rPr lang="en-US" sz="1350" b="0" i="0" u="none" strike="noStrike" cap="none" dirty="0">
                <a:solidFill>
                  <a:srgbClr val="6B7280"/>
                </a:solidFill>
                <a:latin typeface="Urbanist"/>
                <a:ea typeface="Urbanist"/>
                <a:cs typeface="Urbanist"/>
                <a:sym typeface="Urbanist"/>
              </a:rPr>
              <a:t>rohan.singh@g20.sql | </a:t>
            </a:r>
            <a:r>
              <a:rPr lang="en-US" sz="1350" dirty="0">
                <a:solidFill>
                  <a:srgbClr val="6B7280"/>
                </a:solidFill>
                <a:latin typeface="Urbanist"/>
                <a:ea typeface="Urbanist"/>
                <a:cs typeface="Urbanist"/>
                <a:sym typeface="Urbanist"/>
              </a:rPr>
              <a:t>https://www.linkedin.com/in/rohansingh2004/</a:t>
            </a:r>
            <a:endParaRPr dirty="0"/>
          </a:p>
        </p:txBody>
      </p:sp>
    </p:spTree>
  </p:cSld>
  <p:clrMapOvr>
    <a:masterClrMapping/>
  </p:clrMapOvr>
  <p:transition spd="slow">
    <p:wipe/>
  </p:transition>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2434</TotalTime>
  <Words>1159</Words>
  <Application>Microsoft Office PowerPoint</Application>
  <PresentationFormat>Widescreen</PresentationFormat>
  <Paragraphs>137</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Urbanist</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ROHAN</dc:creator>
  <cp:lastModifiedBy>Rohan Singh</cp:lastModifiedBy>
  <cp:revision>16</cp:revision>
  <dcterms:modified xsi:type="dcterms:W3CDTF">2025-12-15T15:19:03Z</dcterms:modified>
</cp:coreProperties>
</file>